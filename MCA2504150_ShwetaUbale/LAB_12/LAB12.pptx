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5" dt="2026-09-24T09:18:07.830"/>
    <p1510:client id="{C8352B47-1DFA-1FAD-08DB-B83345A8CEC4}" v="18" dt="2026-09-24T09:37:49.88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777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777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777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777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777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04820" y="9385081"/>
            <a:ext cx="1766570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777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cli/azure/install-azure-cli-windows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azure.microsoft.com/en-in/free/students" TargetMode="External"/><Relationship Id="rId4" Type="http://schemas.openxmlformats.org/officeDocument/2006/relationships/hyperlink" Target="https://docs.docker.com/desktop/use-desktop/kubernete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000/health" TargetMode="External"/><Relationship Id="rId2" Type="http://schemas.openxmlformats.org/officeDocument/2006/relationships/hyperlink" Target="http://localhost:5000/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000/health" TargetMode="External"/><Relationship Id="rId2" Type="http://schemas.openxmlformats.org/officeDocument/2006/relationships/hyperlink" Target="http://localhost:5000/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localhost:5050/" TargetMode="Externa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80/health" TargetMode="External"/><Relationship Id="rId2" Type="http://schemas.openxmlformats.org/officeDocument/2006/relationships/hyperlink" Target="http://localhost:30080/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80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azure.com/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EXTERNAL-IP/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azure/container-registry/container-registry-get-started-portal" TargetMode="External"/><Relationship Id="rId3" Type="http://schemas.openxmlformats.org/officeDocument/2006/relationships/hyperlink" Target="https://learn.microsoft.com/en-us/cli/azure/install-azure-cli-windows" TargetMode="External"/><Relationship Id="rId7" Type="http://schemas.openxmlformats.org/officeDocument/2006/relationships/hyperlink" Target="https://learn.microsoft.com/en-us/azure/education-hub/navigate-costs" TargetMode="External"/><Relationship Id="rId2" Type="http://schemas.openxmlformats.org/officeDocument/2006/relationships/hyperlink" Target="https://docs.docker.com/desktop/use-desktop/kubernetes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zure.microsoft.com/en-in/free/students" TargetMode="External"/><Relationship Id="rId5" Type="http://schemas.openxmlformats.org/officeDocument/2006/relationships/hyperlink" Target="https://learn.microsoft.com/en-us/azure/aks/learn/quick-kubernetes-deploy-cli" TargetMode="External"/><Relationship Id="rId10" Type="http://schemas.openxmlformats.org/officeDocument/2006/relationships/hyperlink" Target="https://learn.microsoft.com/en-us/azure/aks/kubernetes-portal" TargetMode="External"/><Relationship Id="rId4" Type="http://schemas.openxmlformats.org/officeDocument/2006/relationships/hyperlink" Target="https://learn.microsoft.com/en-us/azure/container-registry/container-registry-get-started-docker-cli" TargetMode="External"/><Relationship Id="rId9" Type="http://schemas.openxmlformats.org/officeDocument/2006/relationships/hyperlink" Target="https://learn.microsoft.com/en-us/azure/aks/learn/quick-kubernetes-deploy-port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692" y="571881"/>
            <a:ext cx="6092190" cy="70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Practical</a:t>
            </a:r>
            <a:r>
              <a:rPr sz="1100" b="1" i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Name:</a:t>
            </a:r>
            <a:r>
              <a:rPr sz="1100" b="1" i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Deplo</a:t>
            </a:r>
            <a:r>
              <a:rPr sz="1100" b="1" i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ying</a:t>
            </a:r>
            <a:r>
              <a:rPr sz="1100" b="1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100" b="1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spc="-10" dirty="0">
                <a:solidFill>
                  <a:srgbClr val="666666"/>
                </a:solidFill>
                <a:latin typeface="Arial"/>
                <a:cs typeface="Arial"/>
              </a:rPr>
              <a:t>through</a:t>
            </a:r>
            <a:r>
              <a:rPr sz="1100" b="1" i="1" spc="-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kubernetes</a:t>
            </a:r>
            <a:r>
              <a:rPr sz="1100" b="1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100" b="1" i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Azure</a:t>
            </a:r>
            <a:r>
              <a:rPr sz="1100" b="1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cloud.</a:t>
            </a:r>
            <a:r>
              <a:rPr sz="1100" b="1" i="1" spc="26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100" b="1" i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dirty="0">
                <a:solidFill>
                  <a:srgbClr val="666666"/>
                </a:solidFill>
                <a:latin typeface="Arial"/>
                <a:cs typeface="Arial"/>
              </a:rPr>
              <a:t>Azure</a:t>
            </a:r>
            <a:r>
              <a:rPr sz="1100" b="1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b="1" i="1" spc="-10" dirty="0">
                <a:solidFill>
                  <a:srgbClr val="666666"/>
                </a:solidFill>
                <a:latin typeface="Arial"/>
                <a:cs typeface="Arial"/>
              </a:rPr>
              <a:t>cloud.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W indows</a:t>
            </a:r>
            <a:r>
              <a:rPr sz="1100" i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666666"/>
                </a:solidFill>
                <a:latin typeface="Arial"/>
                <a:cs typeface="Arial"/>
              </a:rPr>
              <a:t>11 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110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666666"/>
                </a:solidFill>
                <a:latin typeface="Arial"/>
                <a:cs typeface="Arial"/>
              </a:rPr>
              <a:t>edition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 descr="The same small application moving from code to cloud  The same small application moving from code to clou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722" y="1760889"/>
            <a:ext cx="5537526" cy="7769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3417" y="2869341"/>
            <a:ext cx="6405245" cy="19818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590"/>
              </a:spcBef>
            </a:pP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850" i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same</a:t>
            </a:r>
            <a:r>
              <a:rPr sz="850" i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small</a:t>
            </a:r>
            <a:r>
              <a:rPr sz="85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850" i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moving</a:t>
            </a:r>
            <a:r>
              <a:rPr sz="850" i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850" i="1" spc="-4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code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850" i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666666"/>
                </a:solidFill>
                <a:latin typeface="Arial"/>
                <a:cs typeface="Arial"/>
              </a:rPr>
              <a:t>cloud</a:t>
            </a:r>
            <a:endParaRPr sz="850">
              <a:latin typeface="Arial"/>
              <a:cs typeface="Arial"/>
            </a:endParaRPr>
          </a:p>
          <a:p>
            <a:pPr marL="12700" marR="36830">
              <a:lnSpc>
                <a:spcPct val="103899"/>
              </a:lnSpc>
              <a:spcBef>
                <a:spcPts val="555"/>
              </a:spcBef>
            </a:pP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practical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teaches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complete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 Python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web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application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container,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local Kubernetes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or</a:t>
            </a:r>
            <a:r>
              <a:rPr sz="1050" spc="50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PowerShell.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also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application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observe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how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performs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controlled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rolling update.</a:t>
            </a:r>
            <a:endParaRPr sz="1050">
              <a:latin typeface="Arial MT"/>
              <a:cs typeface="Arial MT"/>
            </a:endParaRPr>
          </a:p>
          <a:p>
            <a:pPr marL="12700" marR="146685" algn="just">
              <a:lnSpc>
                <a:spcPct val="103200"/>
              </a:lnSpc>
              <a:spcBef>
                <a:spcPts val="1000"/>
              </a:spcBef>
            </a:pPr>
            <a:r>
              <a:rPr sz="1050" b="1" dirty="0">
                <a:latin typeface="Arial"/>
                <a:cs typeface="Arial"/>
              </a:rPr>
              <a:t>Project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name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Hello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Cloud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application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returns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JSON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response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health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response</a:t>
            </a:r>
            <a:r>
              <a:rPr sz="1050" spc="-25" dirty="0">
                <a:latin typeface="Arial MT"/>
                <a:cs typeface="Arial MT"/>
              </a:rPr>
              <a:t> so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easily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running.</a:t>
            </a:r>
            <a:endParaRPr sz="1050">
              <a:latin typeface="Arial MT"/>
              <a:cs typeface="Arial MT"/>
            </a:endParaRPr>
          </a:p>
          <a:p>
            <a:pPr marL="12700" marR="5080" algn="just">
              <a:lnSpc>
                <a:spcPct val="103299"/>
              </a:lnSpc>
              <a:spcBef>
                <a:spcPts val="595"/>
              </a:spcBef>
            </a:pPr>
            <a:r>
              <a:rPr sz="1050" b="1" dirty="0">
                <a:latin typeface="Arial"/>
                <a:cs typeface="Arial"/>
              </a:rPr>
              <a:t>Important</a:t>
            </a:r>
            <a:r>
              <a:rPr sz="1050" b="1" spc="-4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Azure</a:t>
            </a:r>
            <a:r>
              <a:rPr sz="1050" b="1" spc="-4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note</a:t>
            </a:r>
            <a:r>
              <a:rPr sz="1050" b="1" spc="-3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credit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based.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Check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your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remaining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credit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AKS, </a:t>
            </a:r>
            <a:r>
              <a:rPr sz="1050" dirty="0">
                <a:latin typeface="Arial MT"/>
                <a:cs typeface="Arial MT"/>
              </a:rPr>
              <a:t>monitor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usage,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delete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lab.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section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includes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visual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Azure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steps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optional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route.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427433"/>
            <a:ext cx="6231890" cy="99377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latin typeface="Arial"/>
                <a:cs typeface="Arial"/>
              </a:rPr>
              <a:t>Practical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Overview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03200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By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practical,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will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able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Flask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application,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build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Docker </a:t>
            </a:r>
            <a:r>
              <a:rPr sz="1050" dirty="0">
                <a:latin typeface="Arial MT"/>
                <a:cs typeface="Arial MT"/>
              </a:rPr>
              <a:t>image,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test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Windows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11,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publish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Registry, </a:t>
            </a:r>
            <a:r>
              <a:rPr sz="1050" dirty="0">
                <a:latin typeface="Arial MT"/>
                <a:cs typeface="Arial MT"/>
              </a:rPr>
              <a:t>deploy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running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application,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back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necessary.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30592" y="1499235"/>
          <a:ext cx="5901690" cy="2520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Stage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Main 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tool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Evidence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collect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Create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Python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Flask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Browser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response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9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localhost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Package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Docker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Desktop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docker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ps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running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container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Orchestrate</a:t>
                      </a:r>
                      <a:r>
                        <a:rPr sz="9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locally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Docker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Desktop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Kubernetes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Pods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Service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Publish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Azure</a:t>
                      </a:r>
                      <a:r>
                        <a:rPr sz="10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portal</a:t>
                      </a:r>
                      <a:r>
                        <a:rPr sz="10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ACR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Successful</a:t>
                      </a:r>
                      <a:r>
                        <a:rPr sz="9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image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push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Deploy in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cloud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Azure</a:t>
                      </a:r>
                      <a:r>
                        <a:rPr sz="10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portal</a:t>
                      </a:r>
                      <a:r>
                        <a:rPr sz="10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AKS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External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IP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browser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response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Update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Portal</a:t>
                      </a:r>
                      <a:r>
                        <a:rPr sz="10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kubectl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Version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rollout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status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73417" y="4177604"/>
            <a:ext cx="6269355" cy="325247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250" b="1" dirty="0">
                <a:latin typeface="Arial"/>
                <a:cs typeface="Arial"/>
              </a:rPr>
              <a:t>Learning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Outcomes</a:t>
            </a:r>
            <a:endParaRPr sz="1250">
              <a:latin typeface="Arial"/>
              <a:cs typeface="Arial"/>
            </a:endParaRPr>
          </a:p>
          <a:p>
            <a:pPr marL="241300" marR="5080" indent="-228600">
              <a:lnSpc>
                <a:spcPct val="103200"/>
              </a:lnSpc>
              <a:spcBef>
                <a:spcPts val="685"/>
              </a:spcBef>
              <a:buFont typeface="Symbol"/>
              <a:buChar char=""/>
              <a:tabLst>
                <a:tab pos="241300" algn="l"/>
              </a:tabLst>
            </a:pPr>
            <a:r>
              <a:rPr sz="1050" dirty="0">
                <a:latin typeface="Arial MT"/>
                <a:cs typeface="Arial MT"/>
              </a:rPr>
              <a:t>Explain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difference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source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code,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container,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a </a:t>
            </a:r>
            <a:r>
              <a:rPr sz="1050" spc="-10" dirty="0">
                <a:latin typeface="Arial MT"/>
                <a:cs typeface="Arial MT"/>
              </a:rPr>
              <a:t>service.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application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locally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introducing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keep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application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replicas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running.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provide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stable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address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changing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pods.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store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private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it.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Perform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version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observe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practise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rollback.</a:t>
            </a:r>
            <a:endParaRPr sz="1050">
              <a:latin typeface="Arial MT"/>
              <a:cs typeface="Arial MT"/>
            </a:endParaRPr>
          </a:p>
          <a:p>
            <a:pPr marL="241300" marR="242570" indent="-228600">
              <a:lnSpc>
                <a:spcPts val="1400"/>
              </a:lnSpc>
              <a:spcBef>
                <a:spcPts val="45"/>
              </a:spcBef>
              <a:buFont typeface="Symbol"/>
              <a:buChar char=""/>
              <a:tabLst>
                <a:tab pos="241300" algn="l"/>
              </a:tabLst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resources,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YAML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manifest,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observe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workloads, </a:t>
            </a:r>
            <a:r>
              <a:rPr sz="1050" dirty="0">
                <a:latin typeface="Arial MT"/>
                <a:cs typeface="Arial MT"/>
              </a:rPr>
              <a:t>update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clean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group.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b="1" dirty="0">
                <a:latin typeface="Arial"/>
                <a:cs typeface="Arial"/>
              </a:rPr>
              <a:t>What</a:t>
            </a:r>
            <a:r>
              <a:rPr sz="1250" b="1" spc="-2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Students</a:t>
            </a:r>
            <a:r>
              <a:rPr sz="1250" b="1" spc="-20" dirty="0">
                <a:latin typeface="Arial"/>
                <a:cs typeface="Arial"/>
              </a:rPr>
              <a:t> Need</a:t>
            </a:r>
            <a:endParaRPr sz="125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Windows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11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computer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Desktop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installed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running.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Windows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Terminal.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spc="-10" dirty="0">
                <a:latin typeface="Arial MT"/>
                <a:cs typeface="Arial MT"/>
              </a:rPr>
              <a:t>Visual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Studio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another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text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editor.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available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credit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balance.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Internet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access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downloading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pushing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Azure.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75056"/>
            <a:ext cx="3485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1</a:t>
            </a:r>
            <a:r>
              <a:rPr sz="900" b="1" spc="204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Record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tools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installed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on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computer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9767" y="775080"/>
            <a:ext cx="6416675" cy="1972310"/>
            <a:chOff x="679767" y="775080"/>
            <a:chExt cx="6416675" cy="1972310"/>
          </a:xfrm>
        </p:grpSpPr>
        <p:sp>
          <p:nvSpPr>
            <p:cNvPr id="4" name="object 4"/>
            <p:cNvSpPr/>
            <p:nvPr/>
          </p:nvSpPr>
          <p:spPr>
            <a:xfrm>
              <a:off x="692467" y="787780"/>
              <a:ext cx="6390640" cy="1946910"/>
            </a:xfrm>
            <a:custGeom>
              <a:avLst/>
              <a:gdLst/>
              <a:ahLst/>
              <a:cxnLst/>
              <a:rect l="l" t="t" r="r" b="b"/>
              <a:pathLst>
                <a:path w="6390640" h="1946910">
                  <a:moveTo>
                    <a:pt x="6390640" y="0"/>
                  </a:moveTo>
                  <a:lnTo>
                    <a:pt x="0" y="0"/>
                  </a:lnTo>
                  <a:lnTo>
                    <a:pt x="0" y="1946910"/>
                  </a:lnTo>
                  <a:lnTo>
                    <a:pt x="6390640" y="1946910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9767" y="775080"/>
              <a:ext cx="6416675" cy="1972310"/>
            </a:xfrm>
            <a:custGeom>
              <a:avLst/>
              <a:gdLst/>
              <a:ahLst/>
              <a:cxnLst/>
              <a:rect l="l" t="t" r="r" b="b"/>
              <a:pathLst>
                <a:path w="6416675" h="1972310">
                  <a:moveTo>
                    <a:pt x="6403340" y="0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76200"/>
                  </a:lnTo>
                  <a:lnTo>
                    <a:pt x="0" y="1959610"/>
                  </a:lnTo>
                  <a:lnTo>
                    <a:pt x="0" y="1972310"/>
                  </a:lnTo>
                  <a:lnTo>
                    <a:pt x="12700" y="1972310"/>
                  </a:lnTo>
                  <a:lnTo>
                    <a:pt x="6403340" y="1972310"/>
                  </a:lnTo>
                  <a:lnTo>
                    <a:pt x="6403340" y="1959610"/>
                  </a:lnTo>
                  <a:lnTo>
                    <a:pt x="12700" y="1959610"/>
                  </a:lnTo>
                  <a:lnTo>
                    <a:pt x="12700" y="76200"/>
                  </a:lnTo>
                  <a:lnTo>
                    <a:pt x="12700" y="12700"/>
                  </a:lnTo>
                  <a:lnTo>
                    <a:pt x="6403340" y="12700"/>
                  </a:lnTo>
                  <a:lnTo>
                    <a:pt x="6403340" y="0"/>
                  </a:lnTo>
                  <a:close/>
                </a:path>
                <a:path w="6416675" h="1972310">
                  <a:moveTo>
                    <a:pt x="6416103" y="0"/>
                  </a:moveTo>
                  <a:lnTo>
                    <a:pt x="6403403" y="0"/>
                  </a:lnTo>
                  <a:lnTo>
                    <a:pt x="6403403" y="12700"/>
                  </a:lnTo>
                  <a:lnTo>
                    <a:pt x="6403403" y="76200"/>
                  </a:lnTo>
                  <a:lnTo>
                    <a:pt x="6403403" y="1959610"/>
                  </a:lnTo>
                  <a:lnTo>
                    <a:pt x="6403403" y="1972310"/>
                  </a:lnTo>
                  <a:lnTo>
                    <a:pt x="6416103" y="1972310"/>
                  </a:lnTo>
                  <a:lnTo>
                    <a:pt x="6416103" y="1959610"/>
                  </a:lnTo>
                  <a:lnTo>
                    <a:pt x="6416103" y="76200"/>
                  </a:lnTo>
                  <a:lnTo>
                    <a:pt x="6416103" y="12700"/>
                  </a:lnTo>
                  <a:lnTo>
                    <a:pt x="6416103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022" y="850899"/>
              <a:ext cx="5887084" cy="16683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3417" y="2907357"/>
            <a:ext cx="5844540" cy="104330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Prepare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Windows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Machine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3200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starting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Desktop.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following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commands.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command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not </a:t>
            </a:r>
            <a:r>
              <a:rPr sz="1050" spc="-10" dirty="0">
                <a:latin typeface="Arial MT"/>
                <a:cs typeface="Arial MT"/>
              </a:rPr>
              <a:t>recognised, </a:t>
            </a:r>
            <a:r>
              <a:rPr sz="1050" dirty="0">
                <a:latin typeface="Arial MT"/>
                <a:cs typeface="Arial MT"/>
              </a:rPr>
              <a:t>install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missing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tool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window.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117" y="3976370"/>
            <a:ext cx="6403975" cy="508634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95250" marR="4958715">
              <a:lnSpc>
                <a:spcPct val="97700"/>
              </a:lnSpc>
              <a:spcBef>
                <a:spcPts val="54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version</a:t>
            </a:r>
            <a:r>
              <a:rPr sz="800" spc="50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version 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client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version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417" y="4652898"/>
            <a:ext cx="6253480" cy="3505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Desktop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provides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Engine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provide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CLI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</a:t>
            </a:r>
            <a:r>
              <a:rPr sz="1050" dirty="0">
                <a:latin typeface="Arial MT"/>
                <a:cs typeface="Arial MT"/>
              </a:rPr>
              <a:t>sign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resources,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push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ACR,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kubectl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AKS.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30592" y="5081523"/>
          <a:ext cx="5901690" cy="1514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Tool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Purpose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practical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Docker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Desktop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Build</a:t>
                      </a:r>
                      <a:r>
                        <a:rPr sz="9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images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run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containers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locally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kubectl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Send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commands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Kubernetes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cluster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Azure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CLI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manage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Azure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resources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PowerShell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Run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commands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on Windows 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11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73417" y="6787133"/>
            <a:ext cx="5830570" cy="129730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If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CLI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installed,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official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Windows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installer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Cloud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Shell.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kubectl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not </a:t>
            </a:r>
            <a:r>
              <a:rPr sz="1050" dirty="0">
                <a:latin typeface="Arial MT"/>
                <a:cs typeface="Arial MT"/>
              </a:rPr>
              <a:t>available,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enable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Desktop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restart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terminal.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50" b="1" dirty="0">
                <a:latin typeface="Arial"/>
                <a:cs typeface="Arial"/>
              </a:rPr>
              <a:t>Useful</a:t>
            </a:r>
            <a:r>
              <a:rPr sz="1250" b="1" spc="1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Installation</a:t>
            </a:r>
            <a:r>
              <a:rPr sz="1250" b="1" spc="-5" dirty="0">
                <a:latin typeface="Arial"/>
                <a:cs typeface="Arial"/>
              </a:rPr>
              <a:t> </a:t>
            </a:r>
            <a:r>
              <a:rPr sz="1250" b="1" spc="-20" dirty="0">
                <a:latin typeface="Arial"/>
                <a:cs typeface="Arial"/>
              </a:rPr>
              <a:t>Links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Install</a:t>
            </a:r>
            <a:r>
              <a:rPr sz="1050" u="sng" spc="-4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Azure</a:t>
            </a:r>
            <a:r>
              <a:rPr sz="1050" u="sng" spc="-3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CLI</a:t>
            </a:r>
            <a:r>
              <a:rPr sz="1050" u="sng" spc="-1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on</a:t>
            </a:r>
            <a:r>
              <a:rPr sz="1050" u="sng" spc="-3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050" u="sng" spc="-1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Windows</a:t>
            </a:r>
            <a:endParaRPr sz="1050">
              <a:latin typeface="Arial MT"/>
              <a:cs typeface="Arial MT"/>
            </a:endParaRPr>
          </a:p>
          <a:p>
            <a:pPr marL="12700" marR="3552190">
              <a:lnSpc>
                <a:spcPct val="127000"/>
              </a:lnSpc>
            </a:pP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Enable</a:t>
            </a:r>
            <a:r>
              <a:rPr sz="1050" u="sng" spc="-3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050" u="sng" spc="-1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Kubernetes</a:t>
            </a:r>
            <a:r>
              <a:rPr sz="1050" u="sng" spc="-2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in</a:t>
            </a:r>
            <a:r>
              <a:rPr sz="1050" u="sng" spc="-3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Docker</a:t>
            </a:r>
            <a:r>
              <a:rPr sz="1050" u="sng" spc="-2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050" u="sng" spc="-1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Desktop</a:t>
            </a:r>
            <a:r>
              <a:rPr sz="1050" spc="-10" dirty="0">
                <a:solidFill>
                  <a:srgbClr val="1F4E79"/>
                </a:solidFill>
                <a:latin typeface="Arial MT"/>
                <a:cs typeface="Arial MT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Azure</a:t>
            </a:r>
            <a:r>
              <a:rPr sz="1050" u="sng" spc="-4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for</a:t>
            </a:r>
            <a:r>
              <a:rPr sz="1050" u="sng" spc="-2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050" u="sng" spc="-1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Students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75056"/>
            <a:ext cx="3517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2</a:t>
            </a:r>
            <a:r>
              <a:rPr sz="900" b="1" spc="2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</a:t>
            </a:r>
            <a:r>
              <a:rPr sz="900" b="1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kubectl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az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version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output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9767" y="775080"/>
            <a:ext cx="6416675" cy="2207260"/>
            <a:chOff x="679767" y="775080"/>
            <a:chExt cx="6416675" cy="2207260"/>
          </a:xfrm>
        </p:grpSpPr>
        <p:sp>
          <p:nvSpPr>
            <p:cNvPr id="4" name="object 4"/>
            <p:cNvSpPr/>
            <p:nvPr/>
          </p:nvSpPr>
          <p:spPr>
            <a:xfrm>
              <a:off x="692467" y="787780"/>
              <a:ext cx="6390640" cy="2181860"/>
            </a:xfrm>
            <a:custGeom>
              <a:avLst/>
              <a:gdLst/>
              <a:ahLst/>
              <a:cxnLst/>
              <a:rect l="l" t="t" r="r" b="b"/>
              <a:pathLst>
                <a:path w="6390640" h="2181860">
                  <a:moveTo>
                    <a:pt x="6390640" y="0"/>
                  </a:moveTo>
                  <a:lnTo>
                    <a:pt x="0" y="0"/>
                  </a:lnTo>
                  <a:lnTo>
                    <a:pt x="0" y="2181860"/>
                  </a:lnTo>
                  <a:lnTo>
                    <a:pt x="6390640" y="2181860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9767" y="775080"/>
              <a:ext cx="6416675" cy="2207260"/>
            </a:xfrm>
            <a:custGeom>
              <a:avLst/>
              <a:gdLst/>
              <a:ahLst/>
              <a:cxnLst/>
              <a:rect l="l" t="t" r="r" b="b"/>
              <a:pathLst>
                <a:path w="6416675" h="2207260">
                  <a:moveTo>
                    <a:pt x="6403340" y="0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76200"/>
                  </a:lnTo>
                  <a:lnTo>
                    <a:pt x="0" y="2194560"/>
                  </a:lnTo>
                  <a:lnTo>
                    <a:pt x="0" y="2207260"/>
                  </a:lnTo>
                  <a:lnTo>
                    <a:pt x="12700" y="2207260"/>
                  </a:lnTo>
                  <a:lnTo>
                    <a:pt x="6403340" y="2207260"/>
                  </a:lnTo>
                  <a:lnTo>
                    <a:pt x="6403340" y="2194560"/>
                  </a:lnTo>
                  <a:lnTo>
                    <a:pt x="12700" y="2194560"/>
                  </a:lnTo>
                  <a:lnTo>
                    <a:pt x="12700" y="76200"/>
                  </a:lnTo>
                  <a:lnTo>
                    <a:pt x="12700" y="12700"/>
                  </a:lnTo>
                  <a:lnTo>
                    <a:pt x="6403340" y="12700"/>
                  </a:lnTo>
                  <a:lnTo>
                    <a:pt x="6403340" y="0"/>
                  </a:lnTo>
                  <a:close/>
                </a:path>
                <a:path w="6416675" h="2207260">
                  <a:moveTo>
                    <a:pt x="6416103" y="0"/>
                  </a:moveTo>
                  <a:lnTo>
                    <a:pt x="6403403" y="0"/>
                  </a:lnTo>
                  <a:lnTo>
                    <a:pt x="6403403" y="12700"/>
                  </a:lnTo>
                  <a:lnTo>
                    <a:pt x="6403403" y="76200"/>
                  </a:lnTo>
                  <a:lnTo>
                    <a:pt x="6403403" y="2194560"/>
                  </a:lnTo>
                  <a:lnTo>
                    <a:pt x="6403403" y="2207260"/>
                  </a:lnTo>
                  <a:lnTo>
                    <a:pt x="6416103" y="2207260"/>
                  </a:lnTo>
                  <a:lnTo>
                    <a:pt x="6416103" y="2194560"/>
                  </a:lnTo>
                  <a:lnTo>
                    <a:pt x="6416103" y="76200"/>
                  </a:lnTo>
                  <a:lnTo>
                    <a:pt x="6416103" y="12700"/>
                  </a:lnTo>
                  <a:lnTo>
                    <a:pt x="6416103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8722" y="850899"/>
              <a:ext cx="5354827" cy="190461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3417" y="3150959"/>
            <a:ext cx="6318885" cy="103759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2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Create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Project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Folder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3200"/>
              </a:lnSpc>
              <a:spcBef>
                <a:spcPts val="660"/>
              </a:spcBef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project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folder.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You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another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folder,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folder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consistently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whole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practical.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117" y="4214495"/>
            <a:ext cx="6403975" cy="38481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 marR="2836545">
              <a:lnSpc>
                <a:spcPct val="100000"/>
              </a:lnSpc>
              <a:spcBef>
                <a:spcPts val="50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New-Item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-ItemType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Directory</a:t>
            </a:r>
            <a:r>
              <a:rPr sz="800" spc="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Path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C:\student-cloud-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lab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Force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Set-Location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C:\student-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lab\code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.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417" y="4770373"/>
            <a:ext cx="6353175" cy="3505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following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Visual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Studio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Code.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complete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contents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provided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below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students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copy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them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exactly.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30592" y="5198998"/>
          <a:ext cx="5988050" cy="17900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0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2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Purpose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app.py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Flask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application 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code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requirements.txt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Python</a:t>
                      </a:r>
                      <a:r>
                        <a:rPr sz="9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dependency</a:t>
                      </a:r>
                      <a:r>
                        <a:rPr sz="9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list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Dockerfile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Instructions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building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image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k8s-local.yaml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Local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Kubernetes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Deployment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k8s-azure.yaml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Azure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Kubernetes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Deployment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73417" y="7160592"/>
            <a:ext cx="6023610" cy="82867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3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Write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Flask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Application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3200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application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has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endpoints.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home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endpoint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health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endpoint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allows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check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whether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 </a:t>
            </a:r>
            <a:r>
              <a:rPr sz="1050" spc="-10" dirty="0">
                <a:latin typeface="Arial MT"/>
                <a:cs typeface="Arial MT"/>
              </a:rPr>
              <a:t>application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responding.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71881"/>
            <a:ext cx="2001520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File</a:t>
            </a:r>
            <a:r>
              <a:rPr sz="1250" b="1" spc="-3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One</a:t>
            </a:r>
            <a:r>
              <a:rPr sz="1250" b="1" spc="-3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Application</a:t>
            </a:r>
            <a:r>
              <a:rPr sz="1250" b="1" spc="-25" dirty="0">
                <a:latin typeface="Arial"/>
                <a:cs typeface="Arial"/>
              </a:rPr>
              <a:t> </a:t>
            </a:r>
            <a:r>
              <a:rPr sz="1250" b="1" spc="-20" dirty="0">
                <a:latin typeface="Arial"/>
                <a:cs typeface="Arial"/>
              </a:rPr>
              <a:t>Code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Python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1032255"/>
            <a:ext cx="6403975" cy="254762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0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from flask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import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Flask,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jsonify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800">
              <a:latin typeface="Consolas"/>
              <a:cs typeface="Consolas"/>
            </a:endParaRPr>
          </a:p>
          <a:p>
            <a:pPr marL="95250" marR="5128895">
              <a:lnSpc>
                <a:spcPts val="930"/>
              </a:lnSpc>
              <a:spcBef>
                <a:spcPts val="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=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Flask(</a:t>
            </a:r>
            <a:r>
              <a:rPr sz="800" u="sng" spc="420" dirty="0">
                <a:solidFill>
                  <a:srgbClr val="1F2023"/>
                </a:solidFill>
                <a:uFill>
                  <a:solidFill>
                    <a:srgbClr val="1E1F22"/>
                  </a:solidFill>
                </a:u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</a:t>
            </a:r>
            <a:r>
              <a:rPr sz="800" u="sng" spc="420" dirty="0">
                <a:solidFill>
                  <a:srgbClr val="1F2023"/>
                </a:solidFill>
                <a:uFill>
                  <a:solidFill>
                    <a:srgbClr val="1E1F22"/>
                  </a:solidFill>
                </a:u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)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APP_VERSION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=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"v1"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800">
              <a:latin typeface="Consolas"/>
              <a:cs typeface="Consolas"/>
            </a:endParaRPr>
          </a:p>
          <a:p>
            <a:pPr marL="95250" marR="5572760">
              <a:lnSpc>
                <a:spcPts val="930"/>
              </a:lnSpc>
              <a:spcBef>
                <a:spcPts val="5"/>
              </a:spcBef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@app.get("/")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def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home():</a:t>
            </a:r>
            <a:endParaRPr sz="800">
              <a:latin typeface="Consolas"/>
              <a:cs typeface="Consolas"/>
            </a:endParaRPr>
          </a:p>
          <a:p>
            <a:pPr marL="542925" marR="4624070" indent="-222885">
              <a:lnSpc>
                <a:spcPts val="930"/>
              </a:lnSpc>
              <a:spcBef>
                <a:spcPts val="1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return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jsonify(</a:t>
            </a:r>
            <a:r>
              <a:rPr sz="800" spc="50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app="Hello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Cloud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App",</a:t>
            </a:r>
            <a:endParaRPr sz="800">
              <a:latin typeface="Consolas"/>
              <a:cs typeface="Consolas"/>
            </a:endParaRPr>
          </a:p>
          <a:p>
            <a:pPr marL="542925">
              <a:lnSpc>
                <a:spcPts val="90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version=APP_VERSION,</a:t>
            </a:r>
            <a:endParaRPr sz="800">
              <a:latin typeface="Consolas"/>
              <a:cs typeface="Consolas"/>
            </a:endParaRPr>
          </a:p>
          <a:p>
            <a:pPr marL="542925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message="The</a:t>
            </a:r>
            <a:r>
              <a:rPr sz="800" spc="-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application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is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running"</a:t>
            </a:r>
            <a:endParaRPr sz="800">
              <a:latin typeface="Consolas"/>
              <a:cs typeface="Consolas"/>
            </a:endParaRPr>
          </a:p>
          <a:p>
            <a:pPr marL="320675">
              <a:lnSpc>
                <a:spcPts val="955"/>
              </a:lnSpc>
            </a:pP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)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800">
              <a:latin typeface="Consolas"/>
              <a:cs typeface="Consolas"/>
            </a:endParaRPr>
          </a:p>
          <a:p>
            <a:pPr marL="95250" marR="5240020">
              <a:lnSpc>
                <a:spcPts val="95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@app.get("/health")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def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health():</a:t>
            </a:r>
            <a:endParaRPr sz="800">
              <a:latin typeface="Consolas"/>
              <a:cs typeface="Consolas"/>
            </a:endParaRPr>
          </a:p>
          <a:p>
            <a:pPr marL="320675">
              <a:lnSpc>
                <a:spcPts val="894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return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jsonify(status="healthy")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800">
              <a:latin typeface="Consolas"/>
              <a:cs typeface="Consolas"/>
            </a:endParaRPr>
          </a:p>
          <a:p>
            <a:pPr marL="320675" marR="4177665" indent="-225425">
              <a:lnSpc>
                <a:spcPts val="95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if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u="sng" spc="440" dirty="0">
                <a:solidFill>
                  <a:srgbClr val="1F2023"/>
                </a:solidFill>
                <a:uFill>
                  <a:solidFill>
                    <a:srgbClr val="1E1F22"/>
                  </a:solidFill>
                </a:u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</a:t>
            </a:r>
            <a:r>
              <a:rPr sz="800" u="sng" spc="185" dirty="0">
                <a:solidFill>
                  <a:srgbClr val="1F2023"/>
                </a:solidFill>
                <a:uFill>
                  <a:solidFill>
                    <a:srgbClr val="1E1F22"/>
                  </a:solidFill>
                </a:uFill>
                <a:latin typeface="Consolas"/>
                <a:cs typeface="Consolas"/>
              </a:rPr>
              <a:t> 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==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"</a:t>
            </a:r>
            <a:r>
              <a:rPr sz="800" u="sng" spc="420" dirty="0">
                <a:solidFill>
                  <a:srgbClr val="1F2023"/>
                </a:solidFill>
                <a:uFill>
                  <a:solidFill>
                    <a:srgbClr val="1E1F22"/>
                  </a:solidFill>
                </a:u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main</a:t>
            </a:r>
            <a:r>
              <a:rPr sz="800" u="sng" spc="415" dirty="0">
                <a:solidFill>
                  <a:srgbClr val="1F2023"/>
                </a:solidFill>
                <a:uFill>
                  <a:solidFill>
                    <a:srgbClr val="1E1F22"/>
                  </a:solidFill>
                </a:u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":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app.run(host="0.0.0.0",</a:t>
            </a:r>
            <a:r>
              <a:rPr sz="800" spc="-8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port=5000)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3836670"/>
            <a:ext cx="2362835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File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Two</a:t>
            </a:r>
            <a:r>
              <a:rPr sz="1250" b="1" spc="-2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Python</a:t>
            </a:r>
            <a:r>
              <a:rPr sz="1250" b="1" spc="-2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Dependencies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Text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117" y="4293870"/>
            <a:ext cx="6403975" cy="27051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25"/>
              </a:spcBef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Flask==3.1.0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417" y="4727526"/>
            <a:ext cx="6375400" cy="104330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4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Run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App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Without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Docker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3400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checkpoint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Python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code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works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introduced.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commands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from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project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folder.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117" y="5796279"/>
            <a:ext cx="6403975" cy="62547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ts val="944"/>
              </a:lnSpc>
              <a:spcBef>
                <a:spcPts val="5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py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-m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venv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.venv</a:t>
            </a:r>
            <a:endParaRPr sz="800">
              <a:latin typeface="Consolas"/>
              <a:cs typeface="Consolas"/>
            </a:endParaRPr>
          </a:p>
          <a:p>
            <a:pPr marL="95250" marR="4569460">
              <a:lnSpc>
                <a:spcPct val="97700"/>
              </a:lnSpc>
              <a:spcBef>
                <a:spcPts val="5"/>
              </a:spcBef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.\.venv\Scripts\Activate.ps1</a:t>
            </a:r>
            <a:r>
              <a:rPr sz="800" spc="50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pip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install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requirements.txt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python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app.py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417" y="6590284"/>
            <a:ext cx="6127115" cy="402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these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addresses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browser.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terminal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should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remain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while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Flask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running.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Browser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addresses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117" y="7018908"/>
            <a:ext cx="6403975" cy="38735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 marR="4735830">
              <a:lnSpc>
                <a:spcPct val="100000"/>
              </a:lnSpc>
              <a:spcBef>
                <a:spcPts val="500"/>
              </a:spcBef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  <a:hlinkClick r:id="rId2"/>
              </a:rPr>
              <a:t>http://localhost:5000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  <a:hlinkClick r:id="rId3"/>
              </a:rPr>
              <a:t>http://localhost:5000/health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417" y="7574915"/>
            <a:ext cx="6039485" cy="3505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spc="-10" dirty="0">
                <a:latin typeface="Arial MT"/>
                <a:cs typeface="Arial MT"/>
              </a:rPr>
              <a:t>Expected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result: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first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address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JSON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response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containing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v1.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second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address </a:t>
            </a:r>
            <a:r>
              <a:rPr sz="1050" dirty="0">
                <a:latin typeface="Arial MT"/>
                <a:cs typeface="Arial MT"/>
              </a:rPr>
              <a:t>shows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healthy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status.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75056"/>
            <a:ext cx="3828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3</a:t>
            </a:r>
            <a:r>
              <a:rPr sz="900" b="1" spc="204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 the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Flask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app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running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directly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Python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9767" y="775080"/>
            <a:ext cx="6416675" cy="1477010"/>
            <a:chOff x="679767" y="775080"/>
            <a:chExt cx="6416675" cy="1477010"/>
          </a:xfrm>
        </p:grpSpPr>
        <p:sp>
          <p:nvSpPr>
            <p:cNvPr id="4" name="object 4"/>
            <p:cNvSpPr/>
            <p:nvPr/>
          </p:nvSpPr>
          <p:spPr>
            <a:xfrm>
              <a:off x="692467" y="787780"/>
              <a:ext cx="6390640" cy="1451610"/>
            </a:xfrm>
            <a:custGeom>
              <a:avLst/>
              <a:gdLst/>
              <a:ahLst/>
              <a:cxnLst/>
              <a:rect l="l" t="t" r="r" b="b"/>
              <a:pathLst>
                <a:path w="6390640" h="1451610">
                  <a:moveTo>
                    <a:pt x="6390640" y="0"/>
                  </a:moveTo>
                  <a:lnTo>
                    <a:pt x="0" y="0"/>
                  </a:lnTo>
                  <a:lnTo>
                    <a:pt x="0" y="1451228"/>
                  </a:lnTo>
                  <a:lnTo>
                    <a:pt x="6390640" y="1451228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9767" y="775080"/>
              <a:ext cx="6416675" cy="1477010"/>
            </a:xfrm>
            <a:custGeom>
              <a:avLst/>
              <a:gdLst/>
              <a:ahLst/>
              <a:cxnLst/>
              <a:rect l="l" t="t" r="r" b="b"/>
              <a:pathLst>
                <a:path w="6416675" h="1477010">
                  <a:moveTo>
                    <a:pt x="6403340" y="0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76200"/>
                  </a:lnTo>
                  <a:lnTo>
                    <a:pt x="0" y="1463929"/>
                  </a:lnTo>
                  <a:lnTo>
                    <a:pt x="0" y="1476629"/>
                  </a:lnTo>
                  <a:lnTo>
                    <a:pt x="12700" y="1476629"/>
                  </a:lnTo>
                  <a:lnTo>
                    <a:pt x="6403340" y="1476629"/>
                  </a:lnTo>
                  <a:lnTo>
                    <a:pt x="6403340" y="1463929"/>
                  </a:lnTo>
                  <a:lnTo>
                    <a:pt x="12700" y="1463929"/>
                  </a:lnTo>
                  <a:lnTo>
                    <a:pt x="12700" y="76200"/>
                  </a:lnTo>
                  <a:lnTo>
                    <a:pt x="12700" y="12700"/>
                  </a:lnTo>
                  <a:lnTo>
                    <a:pt x="6403340" y="12700"/>
                  </a:lnTo>
                  <a:lnTo>
                    <a:pt x="6403340" y="0"/>
                  </a:lnTo>
                  <a:close/>
                </a:path>
                <a:path w="6416675" h="1477010">
                  <a:moveTo>
                    <a:pt x="6416103" y="0"/>
                  </a:moveTo>
                  <a:lnTo>
                    <a:pt x="6403403" y="0"/>
                  </a:lnTo>
                  <a:lnTo>
                    <a:pt x="6403403" y="12700"/>
                  </a:lnTo>
                  <a:lnTo>
                    <a:pt x="6403403" y="76200"/>
                  </a:lnTo>
                  <a:lnTo>
                    <a:pt x="6403403" y="1463929"/>
                  </a:lnTo>
                  <a:lnTo>
                    <a:pt x="6403403" y="1476629"/>
                  </a:lnTo>
                  <a:lnTo>
                    <a:pt x="6416103" y="1476629"/>
                  </a:lnTo>
                  <a:lnTo>
                    <a:pt x="6416103" y="1463929"/>
                  </a:lnTo>
                  <a:lnTo>
                    <a:pt x="6416103" y="76200"/>
                  </a:lnTo>
                  <a:lnTo>
                    <a:pt x="6416103" y="12700"/>
                  </a:lnTo>
                  <a:lnTo>
                    <a:pt x="6416103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2611" y="1168907"/>
              <a:ext cx="5104384" cy="53911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3417" y="2433066"/>
            <a:ext cx="6153150" cy="5645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Stop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Flask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Ctrl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plus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Deactivate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virtual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environment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you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finished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this </a:t>
            </a:r>
            <a:r>
              <a:rPr sz="1050" spc="-10" dirty="0">
                <a:latin typeface="Arial MT"/>
                <a:cs typeface="Arial MT"/>
              </a:rPr>
              <a:t>checkpoint.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117" y="3023616"/>
            <a:ext cx="6403975" cy="26987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25"/>
              </a:spcBef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deactivate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417" y="3457272"/>
            <a:ext cx="6254115" cy="134112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5 Build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and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Run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Docker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Image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3200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packages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application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runtime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instructions.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container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running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instance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of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10" dirty="0">
                <a:latin typeface="Arial MT"/>
                <a:cs typeface="Arial MT"/>
              </a:rPr>
              <a:t> image.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250" b="1" dirty="0">
                <a:latin typeface="Arial"/>
                <a:cs typeface="Arial"/>
              </a:rPr>
              <a:t>File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Three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Docker</a:t>
            </a:r>
            <a:r>
              <a:rPr sz="1250" b="1" spc="-4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Instructions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Dockerfile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6117" y="4824348"/>
            <a:ext cx="6403975" cy="198818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FROM</a:t>
            </a:r>
            <a:r>
              <a:rPr sz="800" spc="10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python:3.12-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slim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800">
              <a:latin typeface="Consolas"/>
              <a:cs typeface="Consolas"/>
            </a:endParaRPr>
          </a:p>
          <a:p>
            <a:pPr marL="95250">
              <a:lnSpc>
                <a:spcPct val="10000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WORKDIR</a:t>
            </a:r>
            <a:r>
              <a:rPr sz="800" spc="-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/app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800">
              <a:latin typeface="Consolas"/>
              <a:cs typeface="Consolas"/>
            </a:endParaRPr>
          </a:p>
          <a:p>
            <a:pPr marL="95250" marR="4681855">
              <a:lnSpc>
                <a:spcPts val="950"/>
              </a:lnSpc>
              <a:spcBef>
                <a:spcPts val="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ENV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PYTHONDONTWRITEBYTECODE=1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ENV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PYTHONUNBUFFERED=1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800">
              <a:latin typeface="Consolas"/>
              <a:cs typeface="Consolas"/>
            </a:endParaRPr>
          </a:p>
          <a:p>
            <a:pPr marL="95250">
              <a:lnSpc>
                <a:spcPts val="944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COPY</a:t>
            </a:r>
            <a:r>
              <a:rPr sz="800" spc="-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requirements.txt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.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44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RUN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pip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install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no-cache-dir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-r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requirements.txt</a:t>
            </a:r>
            <a:endParaRPr sz="800">
              <a:latin typeface="Consolas"/>
              <a:cs typeface="Consolas"/>
            </a:endParaRPr>
          </a:p>
          <a:p>
            <a:pPr marL="95250" marR="5572760">
              <a:lnSpc>
                <a:spcPts val="2150"/>
              </a:lnSpc>
              <a:spcBef>
                <a:spcPts val="27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COPY app.py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.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EXPOSE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5000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655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CMD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["python",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"app.py"]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3417" y="7069708"/>
            <a:ext cx="1208405" cy="434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Build the</a:t>
            </a:r>
            <a:r>
              <a:rPr sz="1250" b="1" spc="-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Image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6117" y="7530465"/>
            <a:ext cx="6403975" cy="38735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 marR="4288790">
              <a:lnSpc>
                <a:spcPct val="100000"/>
              </a:lnSpc>
              <a:spcBef>
                <a:spcPts val="50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build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-t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app:v1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.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images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3417" y="8086090"/>
            <a:ext cx="6179820" cy="8636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has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parts.</a:t>
            </a:r>
            <a:r>
              <a:rPr sz="1050" spc="-10" dirty="0">
                <a:latin typeface="Arial MT"/>
                <a:cs typeface="Arial MT"/>
              </a:rPr>
              <a:t> hello-cloud-</a:t>
            </a:r>
            <a:r>
              <a:rPr sz="1050" dirty="0">
                <a:latin typeface="Arial MT"/>
                <a:cs typeface="Arial MT"/>
              </a:rPr>
              <a:t>app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name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v1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tag.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tags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make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it </a:t>
            </a:r>
            <a:r>
              <a:rPr sz="1050" dirty="0">
                <a:latin typeface="Arial MT"/>
                <a:cs typeface="Arial MT"/>
              </a:rPr>
              <a:t>easier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back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applications.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50" b="1" dirty="0">
                <a:latin typeface="Arial"/>
                <a:cs typeface="Arial"/>
              </a:rPr>
              <a:t>Run</a:t>
            </a:r>
            <a:r>
              <a:rPr sz="1250" b="1" spc="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the</a:t>
            </a:r>
            <a:r>
              <a:rPr sz="1250" b="1" spc="-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Container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6117" y="8978582"/>
            <a:ext cx="6403975" cy="38417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95250" marR="2668270">
              <a:lnSpc>
                <a:spcPts val="930"/>
              </a:lnSpc>
              <a:spcBef>
                <a:spcPts val="55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run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5000:5000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hello-cloud-app:v1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ps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762381"/>
            <a:ext cx="6291580" cy="5645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command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maps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5000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Windows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machine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5000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inside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container.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same </a:t>
            </a:r>
            <a:r>
              <a:rPr sz="1050" spc="-10" dirty="0">
                <a:latin typeface="Arial MT"/>
                <a:cs typeface="Arial MT"/>
              </a:rPr>
              <a:t>browser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addresses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again.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Browser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addresses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1352930"/>
            <a:ext cx="6403975" cy="38798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95250" marR="4735830">
              <a:lnSpc>
                <a:spcPts val="930"/>
              </a:lnSpc>
              <a:spcBef>
                <a:spcPts val="580"/>
              </a:spcBef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  <a:hlinkClick r:id="rId2"/>
              </a:rPr>
              <a:t>http://localhost:5000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  <a:hlinkClick r:id="rId3"/>
              </a:rPr>
              <a:t>http://localhost:5000/health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1997709"/>
            <a:ext cx="2371090" cy="434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Inspect</a:t>
            </a:r>
            <a:r>
              <a:rPr sz="1250" b="1" spc="-1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and</a:t>
            </a:r>
            <a:r>
              <a:rPr sz="1250" b="1" spc="-1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Stop</a:t>
            </a:r>
            <a:r>
              <a:rPr sz="1250" b="1" spc="-3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the</a:t>
            </a:r>
            <a:r>
              <a:rPr sz="1250" b="1" spc="-1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Container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117" y="2458085"/>
            <a:ext cx="6403975" cy="505459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 marR="4789805" algn="just">
              <a:lnSpc>
                <a:spcPct val="97700"/>
              </a:lnSpc>
              <a:spcBef>
                <a:spcPts val="5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logs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stop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rm</a:t>
            </a:r>
            <a:r>
              <a:rPr sz="800" spc="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417" y="3176016"/>
            <a:ext cx="42062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4</a:t>
            </a:r>
            <a:r>
              <a:rPr sz="900" b="1" spc="2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</a:t>
            </a:r>
            <a:r>
              <a:rPr sz="900" b="1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build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ps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browser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response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9767" y="3372865"/>
            <a:ext cx="6416675" cy="1480185"/>
            <a:chOff x="679767" y="3372865"/>
            <a:chExt cx="6416675" cy="1480185"/>
          </a:xfrm>
        </p:grpSpPr>
        <p:sp>
          <p:nvSpPr>
            <p:cNvPr id="8" name="object 8"/>
            <p:cNvSpPr/>
            <p:nvPr/>
          </p:nvSpPr>
          <p:spPr>
            <a:xfrm>
              <a:off x="692467" y="3385438"/>
              <a:ext cx="6390640" cy="1454785"/>
            </a:xfrm>
            <a:custGeom>
              <a:avLst/>
              <a:gdLst/>
              <a:ahLst/>
              <a:cxnLst/>
              <a:rect l="l" t="t" r="r" b="b"/>
              <a:pathLst>
                <a:path w="6390640" h="1454785">
                  <a:moveTo>
                    <a:pt x="6390640" y="0"/>
                  </a:moveTo>
                  <a:lnTo>
                    <a:pt x="0" y="0"/>
                  </a:lnTo>
                  <a:lnTo>
                    <a:pt x="0" y="1454784"/>
                  </a:lnTo>
                  <a:lnTo>
                    <a:pt x="6390640" y="1454784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9767" y="3372865"/>
              <a:ext cx="6416675" cy="1480185"/>
            </a:xfrm>
            <a:custGeom>
              <a:avLst/>
              <a:gdLst/>
              <a:ahLst/>
              <a:cxnLst/>
              <a:rect l="l" t="t" r="r" b="b"/>
              <a:pathLst>
                <a:path w="6416675" h="1480185">
                  <a:moveTo>
                    <a:pt x="6403340" y="0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76085"/>
                  </a:lnTo>
                  <a:lnTo>
                    <a:pt x="0" y="76212"/>
                  </a:lnTo>
                  <a:lnTo>
                    <a:pt x="0" y="1467358"/>
                  </a:lnTo>
                  <a:lnTo>
                    <a:pt x="0" y="1480058"/>
                  </a:lnTo>
                  <a:lnTo>
                    <a:pt x="12700" y="1480058"/>
                  </a:lnTo>
                  <a:lnTo>
                    <a:pt x="6403340" y="1480058"/>
                  </a:lnTo>
                  <a:lnTo>
                    <a:pt x="6403340" y="1467358"/>
                  </a:lnTo>
                  <a:lnTo>
                    <a:pt x="12700" y="1467358"/>
                  </a:lnTo>
                  <a:lnTo>
                    <a:pt x="12700" y="76212"/>
                  </a:lnTo>
                  <a:lnTo>
                    <a:pt x="12700" y="76085"/>
                  </a:lnTo>
                  <a:lnTo>
                    <a:pt x="12700" y="12700"/>
                  </a:lnTo>
                  <a:lnTo>
                    <a:pt x="6403340" y="12700"/>
                  </a:lnTo>
                  <a:lnTo>
                    <a:pt x="6403340" y="0"/>
                  </a:lnTo>
                  <a:close/>
                </a:path>
                <a:path w="6416675" h="1480185">
                  <a:moveTo>
                    <a:pt x="6416103" y="0"/>
                  </a:moveTo>
                  <a:lnTo>
                    <a:pt x="6403403" y="0"/>
                  </a:lnTo>
                  <a:lnTo>
                    <a:pt x="6403403" y="12700"/>
                  </a:lnTo>
                  <a:lnTo>
                    <a:pt x="6403403" y="76085"/>
                  </a:lnTo>
                  <a:lnTo>
                    <a:pt x="6403403" y="76212"/>
                  </a:lnTo>
                  <a:lnTo>
                    <a:pt x="6403403" y="1467358"/>
                  </a:lnTo>
                  <a:lnTo>
                    <a:pt x="6403403" y="1480058"/>
                  </a:lnTo>
                  <a:lnTo>
                    <a:pt x="6416103" y="1480058"/>
                  </a:lnTo>
                  <a:lnTo>
                    <a:pt x="6416103" y="1467358"/>
                  </a:lnTo>
                  <a:lnTo>
                    <a:pt x="6416103" y="76212"/>
                  </a:lnTo>
                  <a:lnTo>
                    <a:pt x="6416103" y="76085"/>
                  </a:lnTo>
                  <a:lnTo>
                    <a:pt x="6416103" y="12700"/>
                  </a:lnTo>
                  <a:lnTo>
                    <a:pt x="6416103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6762" y="3736466"/>
              <a:ext cx="6238875" cy="60007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84542" y="5016119"/>
            <a:ext cx="6305550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050" b="1" dirty="0">
                <a:latin typeface="Arial"/>
                <a:cs typeface="Arial"/>
              </a:rPr>
              <a:t>Common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problem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5000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already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another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Windows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port: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10" dirty="0">
                <a:latin typeface="Arial MT"/>
                <a:cs typeface="Arial MT"/>
              </a:rPr>
              <a:t> -</a:t>
            </a:r>
            <a:r>
              <a:rPr sz="1050" spc="-50" dirty="0">
                <a:latin typeface="Arial MT"/>
                <a:cs typeface="Arial MT"/>
              </a:rPr>
              <a:t>-</a:t>
            </a:r>
            <a:r>
              <a:rPr sz="1050" dirty="0">
                <a:latin typeface="Arial MT"/>
                <a:cs typeface="Arial MT"/>
              </a:rPr>
              <a:t>name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hello-cloud-</a:t>
            </a:r>
            <a:r>
              <a:rPr sz="1050" dirty="0">
                <a:latin typeface="Arial MT"/>
                <a:cs typeface="Arial MT"/>
              </a:rPr>
              <a:t>app</a:t>
            </a:r>
            <a:r>
              <a:rPr sz="1050" spc="-10" dirty="0">
                <a:latin typeface="Arial MT"/>
                <a:cs typeface="Arial MT"/>
              </a:rPr>
              <a:t> -</a:t>
            </a:r>
            <a:r>
              <a:rPr sz="1050" dirty="0">
                <a:latin typeface="Arial MT"/>
                <a:cs typeface="Arial MT"/>
              </a:rPr>
              <a:t>p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5050:5000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hello-cloud-</a:t>
            </a:r>
            <a:r>
              <a:rPr sz="1050" dirty="0">
                <a:latin typeface="Arial MT"/>
                <a:cs typeface="Arial MT"/>
              </a:rPr>
              <a:t>app:v1. Then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  <a:hlinkClick r:id="rId5"/>
              </a:rPr>
              <a:t>http://localhost:5050</a:t>
            </a:r>
            <a:r>
              <a:rPr sz="1050" spc="-10" dirty="0"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427433"/>
            <a:ext cx="6409690" cy="175704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6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Enable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Local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Kubernetes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3200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Desktop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learning.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suitable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classroom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practice.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 not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10" dirty="0">
                <a:latin typeface="Arial MT"/>
                <a:cs typeface="Arial MT"/>
              </a:rPr>
              <a:t> replacement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 a</a:t>
            </a:r>
            <a:r>
              <a:rPr sz="1050" spc="-10" dirty="0">
                <a:latin typeface="Arial MT"/>
                <a:cs typeface="Arial MT"/>
              </a:rPr>
              <a:t> production cluster.</a:t>
            </a:r>
            <a:endParaRPr sz="1050">
              <a:latin typeface="Arial MT"/>
              <a:cs typeface="Arial MT"/>
            </a:endParaRPr>
          </a:p>
          <a:p>
            <a:pPr marL="238760" indent="-22606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238760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Desktop.</a:t>
            </a:r>
            <a:endParaRPr sz="1050">
              <a:latin typeface="Arial MT"/>
              <a:cs typeface="Arial MT"/>
            </a:endParaRPr>
          </a:p>
          <a:p>
            <a:pPr marL="238760" indent="-22606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238760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Settings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Kubernetes.</a:t>
            </a:r>
            <a:endParaRPr sz="1050">
              <a:latin typeface="Arial MT"/>
              <a:cs typeface="Arial MT"/>
            </a:endParaRPr>
          </a:p>
          <a:p>
            <a:pPr marL="238760" indent="-22606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238760" algn="l"/>
              </a:tabLst>
            </a:pPr>
            <a:r>
              <a:rPr sz="1050" dirty="0">
                <a:latin typeface="Arial MT"/>
                <a:cs typeface="Arial MT"/>
              </a:rPr>
              <a:t>Enable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choose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restart.</a:t>
            </a:r>
            <a:endParaRPr sz="1050">
              <a:latin typeface="Arial MT"/>
              <a:cs typeface="Arial MT"/>
            </a:endParaRPr>
          </a:p>
          <a:p>
            <a:pPr marL="238760" indent="-22606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238760" algn="l"/>
              </a:tabLst>
            </a:pPr>
            <a:r>
              <a:rPr sz="1050" dirty="0">
                <a:latin typeface="Arial MT"/>
                <a:cs typeface="Arial MT"/>
              </a:rPr>
              <a:t>Wait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until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Desktop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reports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running.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2210435"/>
            <a:ext cx="6403975" cy="505459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>
              <a:lnSpc>
                <a:spcPts val="955"/>
              </a:lnSpc>
              <a:spcBef>
                <a:spcPts val="50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config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contexts</a:t>
            </a:r>
            <a:endParaRPr sz="800">
              <a:latin typeface="Consolas"/>
              <a:cs typeface="Consolas"/>
            </a:endParaRPr>
          </a:p>
          <a:p>
            <a:pPr marL="95250" marR="4008754">
              <a:lnSpc>
                <a:spcPts val="930"/>
              </a:lnSpc>
              <a:spcBef>
                <a:spcPts val="5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config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use-context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docker-desktop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nodes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2883916"/>
            <a:ext cx="4724400" cy="4102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 MT"/>
                <a:cs typeface="Arial MT"/>
              </a:rPr>
              <a:t>Expected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result: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named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docker-</a:t>
            </a:r>
            <a:r>
              <a:rPr sz="1050" dirty="0">
                <a:latin typeface="Arial MT"/>
                <a:cs typeface="Arial MT"/>
              </a:rPr>
              <a:t>desktop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Ready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status.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5</a:t>
            </a:r>
            <a:r>
              <a:rPr sz="900" b="1" spc="204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</a:t>
            </a:r>
            <a:r>
              <a:rPr sz="900" b="1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Docker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Desktop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Kubernetes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running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kubectl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get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nodes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67" y="3328415"/>
            <a:ext cx="6416675" cy="2143760"/>
            <a:chOff x="679767" y="3328415"/>
            <a:chExt cx="6416675" cy="2143760"/>
          </a:xfrm>
        </p:grpSpPr>
        <p:sp>
          <p:nvSpPr>
            <p:cNvPr id="6" name="object 6"/>
            <p:cNvSpPr/>
            <p:nvPr/>
          </p:nvSpPr>
          <p:spPr>
            <a:xfrm>
              <a:off x="692467" y="3340988"/>
              <a:ext cx="6390640" cy="2118360"/>
            </a:xfrm>
            <a:custGeom>
              <a:avLst/>
              <a:gdLst/>
              <a:ahLst/>
              <a:cxnLst/>
              <a:rect l="l" t="t" r="r" b="b"/>
              <a:pathLst>
                <a:path w="6390640" h="2118360">
                  <a:moveTo>
                    <a:pt x="6390640" y="0"/>
                  </a:moveTo>
                  <a:lnTo>
                    <a:pt x="0" y="0"/>
                  </a:lnTo>
                  <a:lnTo>
                    <a:pt x="0" y="2118360"/>
                  </a:lnTo>
                  <a:lnTo>
                    <a:pt x="6390640" y="2118360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9767" y="3328415"/>
              <a:ext cx="6416675" cy="2143760"/>
            </a:xfrm>
            <a:custGeom>
              <a:avLst/>
              <a:gdLst/>
              <a:ahLst/>
              <a:cxnLst/>
              <a:rect l="l" t="t" r="r" b="b"/>
              <a:pathLst>
                <a:path w="6416675" h="2143760">
                  <a:moveTo>
                    <a:pt x="6403340" y="0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76073"/>
                  </a:lnTo>
                  <a:lnTo>
                    <a:pt x="0" y="76212"/>
                  </a:lnTo>
                  <a:lnTo>
                    <a:pt x="0" y="2130933"/>
                  </a:lnTo>
                  <a:lnTo>
                    <a:pt x="0" y="2143633"/>
                  </a:lnTo>
                  <a:lnTo>
                    <a:pt x="12700" y="2143633"/>
                  </a:lnTo>
                  <a:lnTo>
                    <a:pt x="6403340" y="2143633"/>
                  </a:lnTo>
                  <a:lnTo>
                    <a:pt x="6403340" y="2130933"/>
                  </a:lnTo>
                  <a:lnTo>
                    <a:pt x="12700" y="2130933"/>
                  </a:lnTo>
                  <a:lnTo>
                    <a:pt x="12700" y="76212"/>
                  </a:lnTo>
                  <a:lnTo>
                    <a:pt x="12700" y="76073"/>
                  </a:lnTo>
                  <a:lnTo>
                    <a:pt x="12700" y="12700"/>
                  </a:lnTo>
                  <a:lnTo>
                    <a:pt x="6403340" y="12700"/>
                  </a:lnTo>
                  <a:lnTo>
                    <a:pt x="6403340" y="0"/>
                  </a:lnTo>
                  <a:close/>
                </a:path>
                <a:path w="6416675" h="2143760">
                  <a:moveTo>
                    <a:pt x="6416103" y="0"/>
                  </a:moveTo>
                  <a:lnTo>
                    <a:pt x="6403403" y="0"/>
                  </a:lnTo>
                  <a:lnTo>
                    <a:pt x="6403403" y="12700"/>
                  </a:lnTo>
                  <a:lnTo>
                    <a:pt x="6403403" y="76073"/>
                  </a:lnTo>
                  <a:lnTo>
                    <a:pt x="6403403" y="76212"/>
                  </a:lnTo>
                  <a:lnTo>
                    <a:pt x="6403403" y="2130933"/>
                  </a:lnTo>
                  <a:lnTo>
                    <a:pt x="6403403" y="2143633"/>
                  </a:lnTo>
                  <a:lnTo>
                    <a:pt x="6416103" y="2143633"/>
                  </a:lnTo>
                  <a:lnTo>
                    <a:pt x="6416103" y="2130933"/>
                  </a:lnTo>
                  <a:lnTo>
                    <a:pt x="6416103" y="76212"/>
                  </a:lnTo>
                  <a:lnTo>
                    <a:pt x="6416103" y="76073"/>
                  </a:lnTo>
                  <a:lnTo>
                    <a:pt x="6416103" y="12700"/>
                  </a:lnTo>
                  <a:lnTo>
                    <a:pt x="6416103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022" y="3404488"/>
              <a:ext cx="5888354" cy="183819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73417" y="5632782"/>
            <a:ext cx="6216015" cy="99377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7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Deploy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App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Local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Kubernetes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03299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Deployment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asks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keep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replicas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running.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gives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replicas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stable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access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point.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Because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already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inside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Desktop,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it </a:t>
            </a:r>
            <a:r>
              <a:rPr sz="1050" dirty="0">
                <a:latin typeface="Arial MT"/>
                <a:cs typeface="Arial MT"/>
              </a:rPr>
              <a:t>without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pulling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public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registry.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1" name="object 11" descr="A Service sends traffic to healthy pod replicas  A Service sends traffic to healthy pod replica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4912" y="6845465"/>
            <a:ext cx="5210175" cy="22669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782570" y="9210357"/>
            <a:ext cx="22085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850" i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r>
              <a:rPr sz="850" i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sends</a:t>
            </a:r>
            <a:r>
              <a:rPr sz="850" i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traffic</a:t>
            </a:r>
            <a:r>
              <a:rPr sz="850" i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850" i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healthy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r>
              <a:rPr sz="850" i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replicas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71881"/>
            <a:ext cx="3155315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File</a:t>
            </a:r>
            <a:r>
              <a:rPr sz="1250" b="1" spc="-2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Four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Local</a:t>
            </a:r>
            <a:r>
              <a:rPr sz="1250" b="1" spc="-4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Kubernetes</a:t>
            </a:r>
            <a:r>
              <a:rPr sz="1250" b="1" spc="-3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Configuration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YAML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1032255"/>
            <a:ext cx="6403975" cy="550100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95250" marR="5240020">
              <a:lnSpc>
                <a:spcPct val="97700"/>
              </a:lnSpc>
              <a:spcBef>
                <a:spcPts val="52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apiVersion: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apps/v1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kind: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Deployment metadata:</a:t>
            </a:r>
            <a:endParaRPr sz="800">
              <a:latin typeface="Consolas"/>
              <a:cs typeface="Consolas"/>
            </a:endParaRPr>
          </a:p>
          <a:p>
            <a:pPr marL="95250" marR="5011420" indent="114300">
              <a:lnSpc>
                <a:spcPts val="950"/>
              </a:lnSpc>
              <a:spcBef>
                <a:spcPts val="1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name: 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spec: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89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replicas: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2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94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selector:</a:t>
            </a:r>
            <a:endParaRPr sz="800">
              <a:latin typeface="Consolas"/>
              <a:cs typeface="Consolas"/>
            </a:endParaRPr>
          </a:p>
          <a:p>
            <a:pPr marL="320675">
              <a:lnSpc>
                <a:spcPts val="94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matchLabels:</a:t>
            </a:r>
            <a:endParaRPr sz="800">
              <a:latin typeface="Consolas"/>
              <a:cs typeface="Consolas"/>
            </a:endParaRPr>
          </a:p>
          <a:p>
            <a:pPr marL="209550" marR="4846955" indent="222250">
              <a:lnSpc>
                <a:spcPts val="930"/>
              </a:lnSpc>
              <a:spcBef>
                <a:spcPts val="5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template:</a:t>
            </a:r>
            <a:endParaRPr sz="800">
              <a:latin typeface="Consolas"/>
              <a:cs typeface="Consolas"/>
            </a:endParaRPr>
          </a:p>
          <a:p>
            <a:pPr marR="5572125" algn="r">
              <a:lnSpc>
                <a:spcPts val="905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metadata:</a:t>
            </a:r>
            <a:endParaRPr sz="800">
              <a:latin typeface="Consolas"/>
              <a:cs typeface="Consolas"/>
            </a:endParaRPr>
          </a:p>
          <a:p>
            <a:pPr marR="5572125" algn="r">
              <a:lnSpc>
                <a:spcPts val="94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labels:</a:t>
            </a:r>
            <a:endParaRPr sz="800">
              <a:latin typeface="Consolas"/>
              <a:cs typeface="Consolas"/>
            </a:endParaRPr>
          </a:p>
          <a:p>
            <a:pPr marL="320675" marR="4732020" indent="222250">
              <a:lnSpc>
                <a:spcPts val="930"/>
              </a:lnSpc>
              <a:spcBef>
                <a:spcPts val="5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spec:</a:t>
            </a:r>
            <a:endParaRPr sz="800">
              <a:latin typeface="Consolas"/>
              <a:cs typeface="Consolas"/>
            </a:endParaRPr>
          </a:p>
          <a:p>
            <a:pPr marL="431800">
              <a:lnSpc>
                <a:spcPts val="89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containers:</a:t>
            </a:r>
            <a:endParaRPr sz="800">
              <a:latin typeface="Consolas"/>
              <a:cs typeface="Consolas"/>
            </a:endParaRPr>
          </a:p>
          <a:p>
            <a:pPr marL="657225" marR="4342130" indent="-114300">
              <a:lnSpc>
                <a:spcPts val="930"/>
              </a:lnSpc>
              <a:spcBef>
                <a:spcPts val="5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name: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image:</a:t>
            </a:r>
            <a:r>
              <a:rPr sz="800" spc="7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hello-cloud-app:v1</a:t>
            </a:r>
            <a:endParaRPr sz="800">
              <a:latin typeface="Consolas"/>
              <a:cs typeface="Consolas"/>
            </a:endParaRPr>
          </a:p>
          <a:p>
            <a:pPr marL="657225" marR="4122420">
              <a:lnSpc>
                <a:spcPts val="930"/>
              </a:lnSpc>
              <a:spcBef>
                <a:spcPts val="1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imagePullPolicy: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IfNotPresent ports:</a:t>
            </a:r>
            <a:endParaRPr sz="800">
              <a:latin typeface="Consolas"/>
              <a:cs typeface="Consolas"/>
            </a:endParaRPr>
          </a:p>
          <a:p>
            <a:pPr marL="657225" marR="4455160" indent="111125">
              <a:lnSpc>
                <a:spcPts val="930"/>
              </a:lnSpc>
              <a:spcBef>
                <a:spcPts val="1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containerPort: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5000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readinessProbe:</a:t>
            </a:r>
            <a:endParaRPr sz="800">
              <a:latin typeface="Consolas"/>
              <a:cs typeface="Consolas"/>
            </a:endParaRPr>
          </a:p>
          <a:p>
            <a:pPr marL="768350">
              <a:lnSpc>
                <a:spcPts val="905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httpGet:</a:t>
            </a:r>
            <a:endParaRPr sz="800">
              <a:latin typeface="Consolas"/>
              <a:cs typeface="Consolas"/>
            </a:endParaRPr>
          </a:p>
          <a:p>
            <a:pPr marL="879475" marR="4791075">
              <a:lnSpc>
                <a:spcPts val="950"/>
              </a:lnSpc>
              <a:spcBef>
                <a:spcPts val="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path: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/health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port: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5000</a:t>
            </a:r>
            <a:endParaRPr sz="800">
              <a:latin typeface="Consolas"/>
              <a:cs typeface="Consolas"/>
            </a:endParaRPr>
          </a:p>
          <a:p>
            <a:pPr marL="768350">
              <a:lnSpc>
                <a:spcPts val="89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initialDelaySeconds:</a:t>
            </a:r>
            <a:r>
              <a:rPr sz="800" spc="-8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3</a:t>
            </a:r>
            <a:endParaRPr sz="800">
              <a:latin typeface="Consolas"/>
              <a:cs typeface="Consolas"/>
            </a:endParaRPr>
          </a:p>
          <a:p>
            <a:pPr marL="657225" marR="4734560" indent="111125">
              <a:lnSpc>
                <a:spcPts val="930"/>
              </a:lnSpc>
              <a:spcBef>
                <a:spcPts val="5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periodSeconds: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5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livenessProbe:</a:t>
            </a:r>
            <a:endParaRPr sz="800">
              <a:latin typeface="Consolas"/>
              <a:cs typeface="Consolas"/>
            </a:endParaRPr>
          </a:p>
          <a:p>
            <a:pPr marL="768350">
              <a:lnSpc>
                <a:spcPts val="90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httpGet:</a:t>
            </a:r>
            <a:endParaRPr sz="800">
              <a:latin typeface="Consolas"/>
              <a:cs typeface="Consolas"/>
            </a:endParaRPr>
          </a:p>
          <a:p>
            <a:pPr marL="879475" marR="4791075">
              <a:lnSpc>
                <a:spcPts val="950"/>
              </a:lnSpc>
              <a:spcBef>
                <a:spcPts val="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path: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/health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port: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5000</a:t>
            </a:r>
            <a:endParaRPr sz="800">
              <a:latin typeface="Consolas"/>
              <a:cs typeface="Consolas"/>
            </a:endParaRPr>
          </a:p>
          <a:p>
            <a:pPr marL="768350">
              <a:lnSpc>
                <a:spcPts val="88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initialDelaySeconds:</a:t>
            </a:r>
            <a:r>
              <a:rPr sz="800" spc="-6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10</a:t>
            </a:r>
            <a:endParaRPr sz="800">
              <a:latin typeface="Consolas"/>
              <a:cs typeface="Consolas"/>
            </a:endParaRPr>
          </a:p>
          <a:p>
            <a:pPr marL="768350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periodSeconds: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10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---</a:t>
            </a:r>
            <a:endParaRPr sz="800">
              <a:latin typeface="Consolas"/>
              <a:cs typeface="Consolas"/>
            </a:endParaRPr>
          </a:p>
          <a:p>
            <a:pPr marL="95250" marR="5518785">
              <a:lnSpc>
                <a:spcPct val="9770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apiVersion: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v1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kind: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Service metadata:</a:t>
            </a:r>
            <a:endParaRPr sz="800">
              <a:latin typeface="Consolas"/>
              <a:cs typeface="Consolas"/>
            </a:endParaRPr>
          </a:p>
          <a:p>
            <a:pPr marL="95250" marR="5011420" indent="114300">
              <a:lnSpc>
                <a:spcPts val="930"/>
              </a:lnSpc>
              <a:spcBef>
                <a:spcPts val="5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name: 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spec: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905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selector:</a:t>
            </a:r>
            <a:endParaRPr sz="800">
              <a:latin typeface="Consolas"/>
              <a:cs typeface="Consolas"/>
            </a:endParaRPr>
          </a:p>
          <a:p>
            <a:pPr marL="209550" marR="4958080" indent="111125">
              <a:lnSpc>
                <a:spcPts val="950"/>
              </a:lnSpc>
              <a:spcBef>
                <a:spcPts val="2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type: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NodePort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89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ports:</a:t>
            </a:r>
            <a:endParaRPr sz="800">
              <a:latin typeface="Consolas"/>
              <a:cs typeface="Consolas"/>
            </a:endParaRPr>
          </a:p>
          <a:p>
            <a:pPr marL="320675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port: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80</a:t>
            </a:r>
            <a:endParaRPr sz="800">
              <a:latin typeface="Consolas"/>
              <a:cs typeface="Consolas"/>
            </a:endParaRPr>
          </a:p>
          <a:p>
            <a:pPr marL="431800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targetPort: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5000</a:t>
            </a:r>
            <a:endParaRPr sz="800">
              <a:latin typeface="Consolas"/>
              <a:cs typeface="Consolas"/>
            </a:endParaRPr>
          </a:p>
          <a:p>
            <a:pPr marL="431800">
              <a:lnSpc>
                <a:spcPts val="955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nodePort: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30080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6793483"/>
            <a:ext cx="2546350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Apply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and</a:t>
            </a:r>
            <a:r>
              <a:rPr sz="1250" b="1" spc="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Check</a:t>
            </a:r>
            <a:r>
              <a:rPr sz="1250" b="1" spc="-2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the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Deployment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117" y="7250683"/>
            <a:ext cx="6403975" cy="74358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ts val="944"/>
              </a:lnSpc>
              <a:spcBef>
                <a:spcPts val="5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apply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-f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.\k8s-local.yaml</a:t>
            </a:r>
            <a:endParaRPr sz="800">
              <a:latin typeface="Consolas"/>
              <a:cs typeface="Consolas"/>
            </a:endParaRPr>
          </a:p>
          <a:p>
            <a:pPr marL="95250" marR="3560445">
              <a:lnSpc>
                <a:spcPts val="950"/>
              </a:lnSpc>
              <a:spcBef>
                <a:spcPts val="2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rollout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status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deployments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89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pods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o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wide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55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service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417" y="8165465"/>
            <a:ext cx="2858770" cy="40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browser.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Browser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addresses</a:t>
            </a:r>
            <a:endParaRPr sz="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117" y="8591295"/>
            <a:ext cx="6403975" cy="38735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95250" marR="4681855">
              <a:lnSpc>
                <a:spcPts val="930"/>
              </a:lnSpc>
              <a:spcBef>
                <a:spcPts val="580"/>
              </a:spcBef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  <a:hlinkClick r:id="rId2"/>
              </a:rPr>
              <a:t>http://localhost:30080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  <a:hlinkClick r:id="rId3"/>
              </a:rPr>
              <a:t>http://localhost:30080/health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75056"/>
            <a:ext cx="45554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6</a:t>
            </a:r>
            <a:r>
              <a:rPr sz="900" b="1" spc="2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</a:t>
            </a:r>
            <a:r>
              <a:rPr sz="900" b="1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two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running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pods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browser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response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9767" y="775080"/>
            <a:ext cx="6416675" cy="1569085"/>
            <a:chOff x="679767" y="775080"/>
            <a:chExt cx="6416675" cy="1569085"/>
          </a:xfrm>
        </p:grpSpPr>
        <p:sp>
          <p:nvSpPr>
            <p:cNvPr id="4" name="object 4"/>
            <p:cNvSpPr/>
            <p:nvPr/>
          </p:nvSpPr>
          <p:spPr>
            <a:xfrm>
              <a:off x="692467" y="787780"/>
              <a:ext cx="6390640" cy="1543685"/>
            </a:xfrm>
            <a:custGeom>
              <a:avLst/>
              <a:gdLst/>
              <a:ahLst/>
              <a:cxnLst/>
              <a:rect l="l" t="t" r="r" b="b"/>
              <a:pathLst>
                <a:path w="6390640" h="1543685">
                  <a:moveTo>
                    <a:pt x="6390640" y="0"/>
                  </a:moveTo>
                  <a:lnTo>
                    <a:pt x="0" y="0"/>
                  </a:lnTo>
                  <a:lnTo>
                    <a:pt x="0" y="1543303"/>
                  </a:lnTo>
                  <a:lnTo>
                    <a:pt x="6390640" y="1543303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9767" y="775080"/>
              <a:ext cx="6416675" cy="1569085"/>
            </a:xfrm>
            <a:custGeom>
              <a:avLst/>
              <a:gdLst/>
              <a:ahLst/>
              <a:cxnLst/>
              <a:rect l="l" t="t" r="r" b="b"/>
              <a:pathLst>
                <a:path w="6416675" h="1569085">
                  <a:moveTo>
                    <a:pt x="6403340" y="0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76200"/>
                  </a:lnTo>
                  <a:lnTo>
                    <a:pt x="0" y="1556004"/>
                  </a:lnTo>
                  <a:lnTo>
                    <a:pt x="0" y="1568704"/>
                  </a:lnTo>
                  <a:lnTo>
                    <a:pt x="12700" y="1568704"/>
                  </a:lnTo>
                  <a:lnTo>
                    <a:pt x="6403340" y="1568704"/>
                  </a:lnTo>
                  <a:lnTo>
                    <a:pt x="6403340" y="1556004"/>
                  </a:lnTo>
                  <a:lnTo>
                    <a:pt x="12700" y="1556004"/>
                  </a:lnTo>
                  <a:lnTo>
                    <a:pt x="12700" y="76200"/>
                  </a:lnTo>
                  <a:lnTo>
                    <a:pt x="12700" y="12700"/>
                  </a:lnTo>
                  <a:lnTo>
                    <a:pt x="6403340" y="12700"/>
                  </a:lnTo>
                  <a:lnTo>
                    <a:pt x="6403340" y="0"/>
                  </a:lnTo>
                  <a:close/>
                </a:path>
                <a:path w="6416675" h="1569085">
                  <a:moveTo>
                    <a:pt x="6416103" y="0"/>
                  </a:moveTo>
                  <a:lnTo>
                    <a:pt x="6403403" y="0"/>
                  </a:lnTo>
                  <a:lnTo>
                    <a:pt x="6403403" y="12700"/>
                  </a:lnTo>
                  <a:lnTo>
                    <a:pt x="6403403" y="76200"/>
                  </a:lnTo>
                  <a:lnTo>
                    <a:pt x="6403403" y="1556004"/>
                  </a:lnTo>
                  <a:lnTo>
                    <a:pt x="6403403" y="1568704"/>
                  </a:lnTo>
                  <a:lnTo>
                    <a:pt x="6416103" y="1568704"/>
                  </a:lnTo>
                  <a:lnTo>
                    <a:pt x="6416103" y="1556004"/>
                  </a:lnTo>
                  <a:lnTo>
                    <a:pt x="6416103" y="76200"/>
                  </a:lnTo>
                  <a:lnTo>
                    <a:pt x="6416103" y="12700"/>
                  </a:lnTo>
                  <a:lnTo>
                    <a:pt x="6416103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022" y="1012634"/>
              <a:ext cx="5888354" cy="9429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3417" y="2601341"/>
            <a:ext cx="2133600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Scale</a:t>
            </a:r>
            <a:r>
              <a:rPr sz="1250" b="1" spc="-1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the</a:t>
            </a:r>
            <a:r>
              <a:rPr sz="1250" b="1" spc="-4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Local</a:t>
            </a:r>
            <a:r>
              <a:rPr sz="1250" b="1" spc="-2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Deployment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117" y="3058541"/>
            <a:ext cx="6403975" cy="505459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95250" marR="3340100">
              <a:lnSpc>
                <a:spcPts val="930"/>
              </a:lnSpc>
              <a:spcBef>
                <a:spcPts val="58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scale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deployment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hello-cloud-app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replicas=3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pods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894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 deployment 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417" y="3735070"/>
            <a:ext cx="6285865" cy="13811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another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because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desired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state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three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replicas.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Service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continues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address.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8 Update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App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Locally</a:t>
            </a:r>
            <a:endParaRPr sz="1600">
              <a:latin typeface="Arial"/>
              <a:cs typeface="Arial"/>
            </a:endParaRPr>
          </a:p>
          <a:p>
            <a:pPr marL="12700" marR="213360">
              <a:lnSpc>
                <a:spcPct val="103200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demonstrates </a:t>
            </a:r>
            <a:r>
              <a:rPr sz="1050" dirty="0">
                <a:latin typeface="Arial MT"/>
                <a:cs typeface="Arial MT"/>
              </a:rPr>
              <a:t>why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versioned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 Deployments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useful.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Change</a:t>
            </a:r>
            <a:r>
              <a:rPr sz="1050" spc="-25" dirty="0">
                <a:latin typeface="Arial MT"/>
                <a:cs typeface="Arial MT"/>
              </a:rPr>
              <a:t> the </a:t>
            </a:r>
            <a:r>
              <a:rPr sz="1050" spc="-10" dirty="0">
                <a:latin typeface="Arial MT"/>
                <a:cs typeface="Arial MT"/>
              </a:rPr>
              <a:t>message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app.py.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Python</a:t>
            </a:r>
            <a:r>
              <a:rPr sz="85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change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6117" y="5141848"/>
            <a:ext cx="6403975" cy="66103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APP_VERSION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=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"v2"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800">
              <a:latin typeface="Consolas"/>
              <a:cs typeface="Consolas"/>
            </a:endParaRPr>
          </a:p>
          <a:p>
            <a:pPr marL="95250" marR="3566160">
              <a:lnSpc>
                <a:spcPts val="95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#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Replace the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message inside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home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with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this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value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message="Version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two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is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running"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3417" y="5970904"/>
            <a:ext cx="524510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Build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tag.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overwrite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v1.</a:t>
            </a:r>
            <a:r>
              <a:rPr sz="1050" spc="-10" dirty="0">
                <a:latin typeface="Arial MT"/>
                <a:cs typeface="Arial MT"/>
              </a:rPr>
              <a:t> Keeping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v1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makes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rollback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easy.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6117" y="6399529"/>
            <a:ext cx="6403975" cy="38481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95250" marR="4288790">
              <a:lnSpc>
                <a:spcPts val="930"/>
              </a:lnSpc>
              <a:spcBef>
                <a:spcPts val="55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build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-t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app:v2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.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images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3417" y="6955408"/>
            <a:ext cx="5770880" cy="5651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Edit</a:t>
            </a:r>
            <a:r>
              <a:rPr sz="1050" spc="-10" dirty="0">
                <a:latin typeface="Arial MT"/>
                <a:cs typeface="Arial MT"/>
              </a:rPr>
              <a:t> k8s-local.yaml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only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hello-cloud-</a:t>
            </a:r>
            <a:r>
              <a:rPr sz="1050" dirty="0">
                <a:latin typeface="Arial MT"/>
                <a:cs typeface="Arial MT"/>
              </a:rPr>
              <a:t>app:v2.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updated configuration.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6117" y="7546340"/>
            <a:ext cx="6403975" cy="62547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ts val="944"/>
              </a:lnSpc>
              <a:spcBef>
                <a:spcPts val="5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 apply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-f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.\k8s-local.yaml</a:t>
            </a:r>
            <a:endParaRPr sz="800">
              <a:latin typeface="Consolas"/>
              <a:cs typeface="Consolas"/>
            </a:endParaRPr>
          </a:p>
          <a:p>
            <a:pPr marL="95250" marR="3560445">
              <a:lnSpc>
                <a:spcPts val="950"/>
              </a:lnSpc>
              <a:spcBef>
                <a:spcPts val="2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rollout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status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pods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894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deployment 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o</a:t>
            </a:r>
            <a:r>
              <a:rPr sz="800" spc="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wide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 descr="A rolling update replaces old pods with new pods in a controlled way  A rolling update replaces old pods with new pods in a controlled wa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731519"/>
            <a:ext cx="5298948" cy="14081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673417" y="2301016"/>
            <a:ext cx="5838190" cy="84074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581785">
              <a:lnSpc>
                <a:spcPct val="100000"/>
              </a:lnSpc>
              <a:spcBef>
                <a:spcPts val="590"/>
              </a:spcBef>
            </a:pP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85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rolling</a:t>
            </a:r>
            <a:r>
              <a:rPr sz="85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update</a:t>
            </a:r>
            <a:r>
              <a:rPr sz="85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replaces</a:t>
            </a:r>
            <a:r>
              <a:rPr sz="850" i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old</a:t>
            </a:r>
            <a:r>
              <a:rPr sz="85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pods</a:t>
            </a:r>
            <a:r>
              <a:rPr sz="85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85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new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pods</a:t>
            </a:r>
            <a:r>
              <a:rPr sz="85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850" i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85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controlled</a:t>
            </a:r>
            <a:r>
              <a:rPr sz="85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666666"/>
                </a:solidFill>
                <a:latin typeface="Arial"/>
                <a:cs typeface="Arial"/>
              </a:rPr>
              <a:t>way</a:t>
            </a:r>
            <a:endParaRPr sz="850">
              <a:latin typeface="Arial"/>
              <a:cs typeface="Arial"/>
            </a:endParaRPr>
          </a:p>
          <a:p>
            <a:pPr marL="12700" marR="5715">
              <a:lnSpc>
                <a:spcPct val="103200"/>
              </a:lnSpc>
              <a:spcBef>
                <a:spcPts val="565"/>
              </a:spcBef>
            </a:pPr>
            <a:r>
              <a:rPr sz="1050" dirty="0">
                <a:latin typeface="Arial MT"/>
                <a:cs typeface="Arial MT"/>
              </a:rPr>
              <a:t>Refresh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  <a:hlinkClick r:id="rId3"/>
              </a:rPr>
              <a:t>http://localhost:30080</a:t>
            </a:r>
            <a:r>
              <a:rPr sz="1050" spc="-10" dirty="0">
                <a:latin typeface="Arial MT"/>
                <a:cs typeface="Arial MT"/>
              </a:rPr>
              <a:t>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response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should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v2.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During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healthy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update, Kubernetes </a:t>
            </a:r>
            <a:r>
              <a:rPr sz="1050" dirty="0">
                <a:latin typeface="Arial MT"/>
                <a:cs typeface="Arial MT"/>
              </a:rPr>
              <a:t>starts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replacement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waits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readiness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removing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old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pods.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7</a:t>
            </a:r>
            <a:r>
              <a:rPr sz="900" b="1" spc="204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</a:t>
            </a:r>
            <a:r>
              <a:rPr sz="900" b="1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v2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browser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rollout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status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9767" y="3179191"/>
            <a:ext cx="6416675" cy="1477010"/>
            <a:chOff x="679767" y="3179191"/>
            <a:chExt cx="6416675" cy="1477010"/>
          </a:xfrm>
        </p:grpSpPr>
        <p:sp>
          <p:nvSpPr>
            <p:cNvPr id="4" name="object 4"/>
            <p:cNvSpPr/>
            <p:nvPr/>
          </p:nvSpPr>
          <p:spPr>
            <a:xfrm>
              <a:off x="692467" y="3191764"/>
              <a:ext cx="6390640" cy="1451610"/>
            </a:xfrm>
            <a:custGeom>
              <a:avLst/>
              <a:gdLst/>
              <a:ahLst/>
              <a:cxnLst/>
              <a:rect l="l" t="t" r="r" b="b"/>
              <a:pathLst>
                <a:path w="6390640" h="1451610">
                  <a:moveTo>
                    <a:pt x="6390640" y="0"/>
                  </a:moveTo>
                  <a:lnTo>
                    <a:pt x="0" y="0"/>
                  </a:lnTo>
                  <a:lnTo>
                    <a:pt x="0" y="1451609"/>
                  </a:lnTo>
                  <a:lnTo>
                    <a:pt x="6390640" y="1451609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9767" y="3179190"/>
              <a:ext cx="6416675" cy="1477010"/>
            </a:xfrm>
            <a:custGeom>
              <a:avLst/>
              <a:gdLst/>
              <a:ahLst/>
              <a:cxnLst/>
              <a:rect l="l" t="t" r="r" b="b"/>
              <a:pathLst>
                <a:path w="6416675" h="1477010">
                  <a:moveTo>
                    <a:pt x="6403340" y="0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76073"/>
                  </a:lnTo>
                  <a:lnTo>
                    <a:pt x="0" y="76200"/>
                  </a:lnTo>
                  <a:lnTo>
                    <a:pt x="0" y="1464183"/>
                  </a:lnTo>
                  <a:lnTo>
                    <a:pt x="0" y="1476883"/>
                  </a:lnTo>
                  <a:lnTo>
                    <a:pt x="12700" y="1476883"/>
                  </a:lnTo>
                  <a:lnTo>
                    <a:pt x="6403340" y="1476883"/>
                  </a:lnTo>
                  <a:lnTo>
                    <a:pt x="6403340" y="1464183"/>
                  </a:lnTo>
                  <a:lnTo>
                    <a:pt x="12700" y="1464183"/>
                  </a:lnTo>
                  <a:lnTo>
                    <a:pt x="12700" y="76200"/>
                  </a:lnTo>
                  <a:lnTo>
                    <a:pt x="12700" y="76073"/>
                  </a:lnTo>
                  <a:lnTo>
                    <a:pt x="12700" y="12700"/>
                  </a:lnTo>
                  <a:lnTo>
                    <a:pt x="6403340" y="12700"/>
                  </a:lnTo>
                  <a:lnTo>
                    <a:pt x="6403340" y="0"/>
                  </a:lnTo>
                  <a:close/>
                </a:path>
                <a:path w="6416675" h="1477010">
                  <a:moveTo>
                    <a:pt x="6416103" y="0"/>
                  </a:moveTo>
                  <a:lnTo>
                    <a:pt x="6403403" y="0"/>
                  </a:lnTo>
                  <a:lnTo>
                    <a:pt x="6403403" y="12700"/>
                  </a:lnTo>
                  <a:lnTo>
                    <a:pt x="6403403" y="76073"/>
                  </a:lnTo>
                  <a:lnTo>
                    <a:pt x="6403403" y="76200"/>
                  </a:lnTo>
                  <a:lnTo>
                    <a:pt x="6403403" y="1464183"/>
                  </a:lnTo>
                  <a:lnTo>
                    <a:pt x="6403403" y="1476883"/>
                  </a:lnTo>
                  <a:lnTo>
                    <a:pt x="6416103" y="1476883"/>
                  </a:lnTo>
                  <a:lnTo>
                    <a:pt x="6416103" y="1464183"/>
                  </a:lnTo>
                  <a:lnTo>
                    <a:pt x="6416103" y="76200"/>
                  </a:lnTo>
                  <a:lnTo>
                    <a:pt x="6416103" y="76073"/>
                  </a:lnTo>
                  <a:lnTo>
                    <a:pt x="6416103" y="12700"/>
                  </a:lnTo>
                  <a:lnTo>
                    <a:pt x="6416103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3950" y="3460496"/>
              <a:ext cx="5524500" cy="762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3417" y="4913248"/>
            <a:ext cx="2073910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Roll</a:t>
            </a:r>
            <a:r>
              <a:rPr sz="1250" b="1" spc="-1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Back</a:t>
            </a:r>
            <a:r>
              <a:rPr sz="1250" b="1" spc="-3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the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Local</a:t>
            </a:r>
            <a:r>
              <a:rPr sz="1250" b="1" spc="-1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Update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117" y="5370448"/>
            <a:ext cx="6403975" cy="505459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95250" marR="3503295">
              <a:lnSpc>
                <a:spcPct val="97700"/>
              </a:lnSpc>
              <a:spcBef>
                <a:spcPts val="55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rollout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history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rollout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undo</a:t>
            </a:r>
            <a:r>
              <a:rPr sz="800" spc="5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rollout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status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417" y="6047104"/>
            <a:ext cx="6047740" cy="3505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Refresh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browser.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should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return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previous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benefits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of </a:t>
            </a:r>
            <a:r>
              <a:rPr sz="1050" spc="-10" dirty="0">
                <a:latin typeface="Arial MT"/>
                <a:cs typeface="Arial MT"/>
              </a:rPr>
              <a:t>managing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Deployment.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800" y="6563741"/>
            <a:ext cx="6400800" cy="70484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427433"/>
            <a:ext cx="6357620" cy="3913504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9 Sign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Azure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3200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stores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image.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cluster.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</a:t>
            </a:r>
            <a:r>
              <a:rPr sz="1050" spc="-10" dirty="0">
                <a:latin typeface="Arial MT"/>
                <a:cs typeface="Arial MT"/>
              </a:rPr>
              <a:t> subscription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only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time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needed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practical, </a:t>
            </a:r>
            <a:r>
              <a:rPr sz="1050" dirty="0">
                <a:latin typeface="Arial MT"/>
                <a:cs typeface="Arial MT"/>
              </a:rPr>
              <a:t>then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delete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group.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300" b="1" dirty="0">
                <a:latin typeface="Calibri"/>
                <a:cs typeface="Calibri"/>
              </a:rPr>
              <a:t>Visual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Azure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Portal</a:t>
            </a:r>
            <a:r>
              <a:rPr sz="1300" b="1" spc="-20" dirty="0">
                <a:latin typeface="Calibri"/>
                <a:cs typeface="Calibri"/>
              </a:rPr>
              <a:t> Path</a:t>
            </a:r>
            <a:endParaRPr sz="1300">
              <a:latin typeface="Calibri"/>
              <a:cs typeface="Calibri"/>
            </a:endParaRPr>
          </a:p>
          <a:p>
            <a:pPr marL="12700" marR="634365">
              <a:lnSpc>
                <a:spcPct val="111100"/>
              </a:lnSpc>
              <a:spcBef>
                <a:spcPts val="125"/>
              </a:spcBef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browser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steps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sign-</a:t>
            </a:r>
            <a:r>
              <a:rPr sz="1050" dirty="0">
                <a:latin typeface="Arial MT"/>
                <a:cs typeface="Arial MT"/>
              </a:rPr>
              <a:t>in,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selection,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creation.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blocks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follow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optional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automated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route.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1115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  <a:hlinkClick r:id="rId2"/>
              </a:rPr>
              <a:t>https://portal.azure.com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sign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account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linked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subscription.</a:t>
            </a:r>
            <a:endParaRPr sz="1050">
              <a:latin typeface="Arial MT"/>
              <a:cs typeface="Arial MT"/>
            </a:endParaRPr>
          </a:p>
          <a:p>
            <a:pPr marL="160655" marR="31115" indent="-147955">
              <a:lnSpc>
                <a:spcPct val="101400"/>
              </a:lnSpc>
              <a:spcBef>
                <a:spcPts val="195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search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bar,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Subscriptions.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</a:t>
            </a:r>
            <a:r>
              <a:rPr sz="1050" spc="-10" dirty="0">
                <a:latin typeface="Arial MT"/>
                <a:cs typeface="Arial MT"/>
              </a:rPr>
              <a:t> subscription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confirm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status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is 	</a:t>
            </a:r>
            <a:r>
              <a:rPr sz="1050" dirty="0">
                <a:latin typeface="Arial MT"/>
                <a:cs typeface="Arial MT"/>
              </a:rPr>
              <a:t>Active. Copy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only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 you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plan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optional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route.</a:t>
            </a:r>
            <a:endParaRPr sz="1050">
              <a:latin typeface="Arial MT"/>
              <a:cs typeface="Arial MT"/>
            </a:endParaRPr>
          </a:p>
          <a:p>
            <a:pPr marL="160655" marR="279400" indent="-147955">
              <a:lnSpc>
                <a:spcPct val="101200"/>
              </a:lnSpc>
              <a:spcBef>
                <a:spcPts val="175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spc="-10" dirty="0">
                <a:latin typeface="Arial MT"/>
                <a:cs typeface="Arial MT"/>
              </a:rPr>
              <a:t>Search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Resource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choose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subscription,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new. 	</a:t>
            </a:r>
            <a:r>
              <a:rPr sz="1050" dirty="0">
                <a:latin typeface="Arial MT"/>
                <a:cs typeface="Arial MT"/>
              </a:rPr>
              <a:t>Enter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rg-hello-</a:t>
            </a:r>
            <a:r>
              <a:rPr sz="1050" dirty="0">
                <a:latin typeface="Arial MT"/>
                <a:cs typeface="Arial MT"/>
              </a:rPr>
              <a:t>cloud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name.</a:t>
            </a:r>
            <a:endParaRPr sz="1050">
              <a:latin typeface="Arial MT"/>
              <a:cs typeface="Arial MT"/>
            </a:endParaRPr>
          </a:p>
          <a:p>
            <a:pPr marL="160655" marR="156845" indent="-147955">
              <a:lnSpc>
                <a:spcPts val="1250"/>
              </a:lnSpc>
              <a:spcBef>
                <a:spcPts val="265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spc="-10" dirty="0">
                <a:latin typeface="Arial MT"/>
                <a:cs typeface="Arial MT"/>
              </a:rPr>
              <a:t>Choose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Central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India,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another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region</a:t>
            </a:r>
            <a:r>
              <a:rPr sz="1050" spc="-10" dirty="0">
                <a:latin typeface="Arial MT"/>
                <a:cs typeface="Arial MT"/>
              </a:rPr>
              <a:t> available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subscription,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Review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then 	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Create.</a:t>
            </a:r>
            <a:endParaRPr sz="1050">
              <a:latin typeface="Arial MT"/>
              <a:cs typeface="Arial MT"/>
            </a:endParaRPr>
          </a:p>
          <a:p>
            <a:pPr marL="160655" marR="226695" indent="-147955">
              <a:lnSpc>
                <a:spcPct val="101299"/>
              </a:lnSpc>
              <a:spcBef>
                <a:spcPts val="160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new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keep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tab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available.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will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be 	</a:t>
            </a:r>
            <a:r>
              <a:rPr sz="1050" dirty="0">
                <a:latin typeface="Arial MT"/>
                <a:cs typeface="Arial MT"/>
              </a:rPr>
              <a:t>created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10" dirty="0">
                <a:latin typeface="Arial MT"/>
                <a:cs typeface="Arial MT"/>
              </a:rPr>
              <a:t> group.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50" b="1" dirty="0">
                <a:latin typeface="Arial"/>
                <a:cs typeface="Arial"/>
              </a:rPr>
              <a:t>Visual</a:t>
            </a:r>
            <a:r>
              <a:rPr sz="1050" b="1" spc="-1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checkpoint.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Capture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pages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space</a:t>
            </a:r>
            <a:r>
              <a:rPr sz="1050" spc="-25" dirty="0">
                <a:latin typeface="Arial MT"/>
                <a:cs typeface="Arial MT"/>
              </a:rPr>
              <a:t> 8.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values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below.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Record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them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moving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next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step.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4366895"/>
            <a:ext cx="6403975" cy="505459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>
              <a:lnSpc>
                <a:spcPts val="955"/>
              </a:lnSpc>
              <a:spcBef>
                <a:spcPts val="50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login</a:t>
            </a:r>
            <a:endParaRPr sz="800">
              <a:latin typeface="Consolas"/>
              <a:cs typeface="Consolas"/>
            </a:endParaRPr>
          </a:p>
          <a:p>
            <a:pPr marL="95250" marR="4622800">
              <a:lnSpc>
                <a:spcPts val="930"/>
              </a:lnSpc>
              <a:spcBef>
                <a:spcPts val="5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account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list 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output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table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account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show 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output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table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5043423"/>
            <a:ext cx="6157595" cy="5651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If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listed,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your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credit.</a:t>
            </a:r>
            <a:r>
              <a:rPr sz="1050" spc="-10" dirty="0">
                <a:latin typeface="Arial MT"/>
                <a:cs typeface="Arial MT"/>
              </a:rPr>
              <a:t> Replace</a:t>
            </a:r>
            <a:r>
              <a:rPr sz="1050" spc="-25" dirty="0">
                <a:latin typeface="Arial MT"/>
                <a:cs typeface="Arial MT"/>
              </a:rPr>
              <a:t> the </a:t>
            </a:r>
            <a:r>
              <a:rPr sz="1050" spc="-10" dirty="0">
                <a:latin typeface="Arial MT"/>
                <a:cs typeface="Arial MT"/>
              </a:rPr>
              <a:t>placeholder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correct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previous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command.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117" y="5634354"/>
            <a:ext cx="6403975" cy="38735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95250" marR="3397250">
              <a:lnSpc>
                <a:spcPts val="950"/>
              </a:lnSpc>
              <a:spcBef>
                <a:spcPts val="54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account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set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-subscription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&lt;YOUR_SUBSCRIPTION_ID&gt;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account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show 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output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table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417" y="6278879"/>
            <a:ext cx="127127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Create</a:t>
            </a:r>
            <a:r>
              <a:rPr sz="1250" b="1" spc="-4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Variables</a:t>
            </a:r>
            <a:endParaRPr sz="12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9917" y="6574408"/>
          <a:ext cx="6489700" cy="1701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115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Portal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field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235379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Value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for this</a:t>
                      </a:r>
                      <a:r>
                        <a:rPr sz="95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practical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2353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Resource</a:t>
                      </a:r>
                      <a:r>
                        <a:rPr sz="9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group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rg-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hello-cloud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Region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Central</a:t>
                      </a:r>
                      <a:r>
                        <a:rPr sz="9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India,</a:t>
                      </a:r>
                      <a:r>
                        <a:rPr sz="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or another</a:t>
                      </a:r>
                      <a:r>
                        <a:rPr sz="9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region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available</a:t>
                      </a:r>
                      <a:r>
                        <a:rPr sz="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subscription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ACR</a:t>
                      </a:r>
                      <a:r>
                        <a:rPr sz="95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name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Unique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lowercase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name,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example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hellocloudacr1234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AKS</a:t>
                      </a:r>
                      <a:r>
                        <a:rPr sz="9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cluster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 name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hello-cloud-</a:t>
                      </a:r>
                      <a:r>
                        <a:rPr sz="950" spc="-25" dirty="0">
                          <a:latin typeface="Arial MT"/>
                          <a:cs typeface="Arial MT"/>
                        </a:rPr>
                        <a:t>aks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AKS</a:t>
                      </a:r>
                      <a:r>
                        <a:rPr sz="9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pricing</a:t>
                      </a:r>
                      <a:r>
                        <a:rPr sz="9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tier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Free,</a:t>
                      </a:r>
                      <a:r>
                        <a:rPr sz="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portal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displays</a:t>
                      </a:r>
                      <a:r>
                        <a:rPr sz="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 option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75056"/>
            <a:ext cx="137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756030"/>
            <a:ext cx="6403975" cy="101663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ts val="940"/>
              </a:lnSpc>
              <a:spcBef>
                <a:spcPts val="5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$SUFFIX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=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Get-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Random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-Minimum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1000 -Maximum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9999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$RESOURCE_GROUP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=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"rg-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hello-cloud"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$LOCATION =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"centralindia"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$ACR_NAME =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"hellocloudacr$SUFFIX"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55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$AKS_NAME</a:t>
            </a:r>
            <a:r>
              <a:rPr sz="800" spc="4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=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"hello-cloud-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aks"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800">
              <a:latin typeface="Consolas"/>
              <a:cs typeface="Consolas"/>
            </a:endParaRPr>
          </a:p>
          <a:p>
            <a:pPr marL="95250">
              <a:lnSpc>
                <a:spcPct val="10000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group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create 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$RESOURCE_GROUP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-location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$LOCATION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1932304"/>
            <a:ext cx="6358890" cy="60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>
              <a:lnSpc>
                <a:spcPct val="109100"/>
              </a:lnSpc>
              <a:spcBef>
                <a:spcPts val="100"/>
              </a:spcBef>
            </a:pPr>
            <a:r>
              <a:rPr sz="1050" b="1" dirty="0">
                <a:latin typeface="Arial"/>
                <a:cs typeface="Arial"/>
              </a:rPr>
              <a:t>Region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note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reports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capacity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quota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problem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centralindia,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choose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another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region</a:t>
            </a:r>
            <a:r>
              <a:rPr sz="1050" spc="-10" dirty="0">
                <a:latin typeface="Arial MT"/>
                <a:cs typeface="Arial MT"/>
              </a:rPr>
              <a:t> available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your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subscription, </a:t>
            </a:r>
            <a:r>
              <a:rPr sz="1050" dirty="0">
                <a:latin typeface="Arial MT"/>
                <a:cs typeface="Arial MT"/>
              </a:rPr>
              <a:t>such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eastus,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variable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again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resources.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8</a:t>
            </a:r>
            <a:r>
              <a:rPr sz="900" b="1" spc="2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 the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Azure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subscription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created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resource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group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portal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67" y="2575941"/>
            <a:ext cx="6416675" cy="2131060"/>
            <a:chOff x="679767" y="2575941"/>
            <a:chExt cx="6416675" cy="2131060"/>
          </a:xfrm>
        </p:grpSpPr>
        <p:sp>
          <p:nvSpPr>
            <p:cNvPr id="6" name="object 6"/>
            <p:cNvSpPr/>
            <p:nvPr/>
          </p:nvSpPr>
          <p:spPr>
            <a:xfrm>
              <a:off x="692467" y="2588514"/>
              <a:ext cx="6390640" cy="2105660"/>
            </a:xfrm>
            <a:custGeom>
              <a:avLst/>
              <a:gdLst/>
              <a:ahLst/>
              <a:cxnLst/>
              <a:rect l="l" t="t" r="r" b="b"/>
              <a:pathLst>
                <a:path w="6390640" h="2105660">
                  <a:moveTo>
                    <a:pt x="6390640" y="0"/>
                  </a:moveTo>
                  <a:lnTo>
                    <a:pt x="0" y="0"/>
                  </a:lnTo>
                  <a:lnTo>
                    <a:pt x="0" y="2105660"/>
                  </a:lnTo>
                  <a:lnTo>
                    <a:pt x="6390640" y="2105660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9767" y="2575940"/>
              <a:ext cx="6416675" cy="2131060"/>
            </a:xfrm>
            <a:custGeom>
              <a:avLst/>
              <a:gdLst/>
              <a:ahLst/>
              <a:cxnLst/>
              <a:rect l="l" t="t" r="r" b="b"/>
              <a:pathLst>
                <a:path w="6416675" h="2131060">
                  <a:moveTo>
                    <a:pt x="6403340" y="0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76073"/>
                  </a:lnTo>
                  <a:lnTo>
                    <a:pt x="0" y="76200"/>
                  </a:lnTo>
                  <a:lnTo>
                    <a:pt x="0" y="2118233"/>
                  </a:lnTo>
                  <a:lnTo>
                    <a:pt x="0" y="2130933"/>
                  </a:lnTo>
                  <a:lnTo>
                    <a:pt x="12700" y="2130933"/>
                  </a:lnTo>
                  <a:lnTo>
                    <a:pt x="6403340" y="2130933"/>
                  </a:lnTo>
                  <a:lnTo>
                    <a:pt x="6403340" y="2118233"/>
                  </a:lnTo>
                  <a:lnTo>
                    <a:pt x="12700" y="2118233"/>
                  </a:lnTo>
                  <a:lnTo>
                    <a:pt x="12700" y="76200"/>
                  </a:lnTo>
                  <a:lnTo>
                    <a:pt x="12700" y="76073"/>
                  </a:lnTo>
                  <a:lnTo>
                    <a:pt x="12700" y="12700"/>
                  </a:lnTo>
                  <a:lnTo>
                    <a:pt x="6403340" y="12700"/>
                  </a:lnTo>
                  <a:lnTo>
                    <a:pt x="6403340" y="0"/>
                  </a:lnTo>
                  <a:close/>
                </a:path>
                <a:path w="6416675" h="2131060">
                  <a:moveTo>
                    <a:pt x="6416103" y="0"/>
                  </a:moveTo>
                  <a:lnTo>
                    <a:pt x="6403403" y="0"/>
                  </a:lnTo>
                  <a:lnTo>
                    <a:pt x="6403403" y="12700"/>
                  </a:lnTo>
                  <a:lnTo>
                    <a:pt x="6403403" y="76073"/>
                  </a:lnTo>
                  <a:lnTo>
                    <a:pt x="6403403" y="76200"/>
                  </a:lnTo>
                  <a:lnTo>
                    <a:pt x="6403403" y="2118233"/>
                  </a:lnTo>
                  <a:lnTo>
                    <a:pt x="6403403" y="2130933"/>
                  </a:lnTo>
                  <a:lnTo>
                    <a:pt x="6416103" y="2130933"/>
                  </a:lnTo>
                  <a:lnTo>
                    <a:pt x="6416103" y="2118233"/>
                  </a:lnTo>
                  <a:lnTo>
                    <a:pt x="6416103" y="76200"/>
                  </a:lnTo>
                  <a:lnTo>
                    <a:pt x="6416103" y="76073"/>
                  </a:lnTo>
                  <a:lnTo>
                    <a:pt x="6416103" y="12700"/>
                  </a:lnTo>
                  <a:lnTo>
                    <a:pt x="6416103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762" y="2651125"/>
              <a:ext cx="6238875" cy="182752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73417" y="4866645"/>
            <a:ext cx="6405245" cy="356044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10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Create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Azure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Container</a:t>
            </a:r>
            <a:r>
              <a:rPr sz="1600" b="1" spc="-10" dirty="0">
                <a:latin typeface="Arial"/>
                <a:cs typeface="Arial"/>
              </a:rPr>
              <a:t> Registry</a:t>
            </a:r>
            <a:endParaRPr sz="1600">
              <a:latin typeface="Arial"/>
              <a:cs typeface="Arial"/>
            </a:endParaRPr>
          </a:p>
          <a:p>
            <a:pPr marL="12700" marR="238760">
              <a:lnSpc>
                <a:spcPct val="103200"/>
              </a:lnSpc>
              <a:spcBef>
                <a:spcPts val="695"/>
              </a:spcBef>
            </a:pPr>
            <a:r>
              <a:rPr sz="1050" dirty="0">
                <a:latin typeface="Arial MT"/>
                <a:cs typeface="Arial MT"/>
              </a:rPr>
              <a:t>ACR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private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must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tagged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login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be </a:t>
            </a:r>
            <a:r>
              <a:rPr sz="1050" spc="-10" dirty="0">
                <a:latin typeface="Arial MT"/>
                <a:cs typeface="Arial MT"/>
              </a:rPr>
              <a:t>pushed.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300" b="1" dirty="0">
                <a:latin typeface="Calibri"/>
                <a:cs typeface="Calibri"/>
              </a:rPr>
              <a:t>Visual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Azure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Portal</a:t>
            </a:r>
            <a:r>
              <a:rPr sz="1300" b="1" spc="-20" dirty="0">
                <a:latin typeface="Calibri"/>
                <a:cs typeface="Calibri"/>
              </a:rPr>
              <a:t> Path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private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browser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pushing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1140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In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Search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Container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Create.</a:t>
            </a:r>
            <a:endParaRPr sz="1050">
              <a:latin typeface="Arial MT"/>
              <a:cs typeface="Arial MT"/>
            </a:endParaRPr>
          </a:p>
          <a:p>
            <a:pPr marL="160655" marR="139065" indent="-147955">
              <a:lnSpc>
                <a:spcPct val="101200"/>
              </a:lnSpc>
              <a:spcBef>
                <a:spcPts val="175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Basics,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</a:t>
            </a:r>
            <a:r>
              <a:rPr sz="1050" spc="-10" dirty="0">
                <a:latin typeface="Arial MT"/>
                <a:cs typeface="Arial MT"/>
              </a:rPr>
              <a:t> subscription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rg-</a:t>
            </a:r>
            <a:r>
              <a:rPr sz="1050" spc="-20" dirty="0">
                <a:latin typeface="Arial MT"/>
                <a:cs typeface="Arial MT"/>
              </a:rPr>
              <a:t>hello-</a:t>
            </a:r>
            <a:r>
              <a:rPr sz="1050" dirty="0">
                <a:latin typeface="Arial MT"/>
                <a:cs typeface="Arial MT"/>
              </a:rPr>
              <a:t>cloud.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Choose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region.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Enter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globally 	</a:t>
            </a:r>
            <a:r>
              <a:rPr sz="1050" dirty="0">
                <a:latin typeface="Arial MT"/>
                <a:cs typeface="Arial MT"/>
              </a:rPr>
              <a:t>unique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name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using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lowercase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letters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only,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such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hellocloudacr1234.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Choose 	</a:t>
            </a:r>
            <a:r>
              <a:rPr sz="1050" dirty="0">
                <a:latin typeface="Arial MT"/>
                <a:cs typeface="Arial MT"/>
              </a:rPr>
              <a:t>Basic,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lowest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suitable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tier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your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subscription.</a:t>
            </a:r>
            <a:endParaRPr sz="1050">
              <a:latin typeface="Arial MT"/>
              <a:cs typeface="Arial MT"/>
            </a:endParaRPr>
          </a:p>
          <a:p>
            <a:pPr marL="160655" marR="224154" indent="-147955">
              <a:lnSpc>
                <a:spcPct val="100000"/>
              </a:lnSpc>
              <a:spcBef>
                <a:spcPts val="215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Review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wait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validation,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finishes,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	</a:t>
            </a:r>
            <a:r>
              <a:rPr sz="1050" spc="-10" dirty="0">
                <a:latin typeface="Arial MT"/>
                <a:cs typeface="Arial MT"/>
              </a:rPr>
              <a:t>resource.</a:t>
            </a:r>
            <a:endParaRPr sz="1050">
              <a:latin typeface="Arial MT"/>
              <a:cs typeface="Arial MT"/>
            </a:endParaRPr>
          </a:p>
          <a:p>
            <a:pPr marL="160655" marR="246379" indent="-147955">
              <a:lnSpc>
                <a:spcPct val="101200"/>
              </a:lnSpc>
              <a:spcBef>
                <a:spcPts val="195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Overview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page,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record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Login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server,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which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ends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azurecr.io.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is 	</a:t>
            </a:r>
            <a:r>
              <a:rPr sz="1050" dirty="0">
                <a:latin typeface="Arial MT"/>
                <a:cs typeface="Arial MT"/>
              </a:rPr>
              <a:t>pushed,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Repositories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hello-cloud-</a:t>
            </a:r>
            <a:r>
              <a:rPr sz="1050" dirty="0">
                <a:latin typeface="Arial MT"/>
                <a:cs typeface="Arial MT"/>
              </a:rPr>
              <a:t>app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verify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v2</a:t>
            </a:r>
            <a:r>
              <a:rPr sz="1050" spc="-20" dirty="0">
                <a:latin typeface="Arial MT"/>
                <a:cs typeface="Arial MT"/>
              </a:rPr>
              <a:t> tag.</a:t>
            </a:r>
            <a:endParaRPr sz="1050">
              <a:latin typeface="Arial MT"/>
              <a:cs typeface="Arial MT"/>
            </a:endParaRPr>
          </a:p>
          <a:p>
            <a:pPr marL="160655" marR="5080" indent="-147955">
              <a:lnSpc>
                <a:spcPct val="101200"/>
              </a:lnSpc>
              <a:spcBef>
                <a:spcPts val="175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displays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upload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itself.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Use</a:t>
            </a:r>
            <a:r>
              <a:rPr sz="1050" spc="500" dirty="0">
                <a:latin typeface="Arial MT"/>
                <a:cs typeface="Arial MT"/>
              </a:rPr>
              <a:t> 	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block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below,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commands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Cloud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Shell,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equivalent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CI/CD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workflow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push 	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50" b="1" dirty="0">
                <a:latin typeface="Arial"/>
                <a:cs typeface="Arial"/>
              </a:rPr>
              <a:t>Visual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checkpoint.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Capture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</a:t>
            </a:r>
            <a:r>
              <a:rPr sz="1050" spc="-10" dirty="0">
                <a:latin typeface="Arial MT"/>
                <a:cs typeface="Arial MT"/>
              </a:rPr>
              <a:t> Overview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Repositories </a:t>
            </a:r>
            <a:r>
              <a:rPr sz="1050" dirty="0">
                <a:latin typeface="Arial MT"/>
                <a:cs typeface="Arial MT"/>
              </a:rPr>
              <a:t>page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10" dirty="0">
                <a:latin typeface="Arial MT"/>
                <a:cs typeface="Arial MT"/>
              </a:rPr>
              <a:t> Screenshot</a:t>
            </a:r>
            <a:r>
              <a:rPr sz="1050" dirty="0">
                <a:latin typeface="Arial MT"/>
                <a:cs typeface="Arial MT"/>
              </a:rPr>
              <a:t> space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9.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75056"/>
            <a:ext cx="137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756030"/>
            <a:ext cx="6403975" cy="113728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ts val="940"/>
              </a:lnSpc>
              <a:spcBef>
                <a:spcPts val="5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acr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create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resource-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group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$RESOURCE_GROUP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-name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$ACR_NAME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sku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Basic</a:t>
            </a:r>
            <a:endParaRPr sz="800">
              <a:latin typeface="Consolas"/>
              <a:cs typeface="Consolas"/>
            </a:endParaRPr>
          </a:p>
          <a:p>
            <a:pPr marL="95250" marR="153035">
              <a:lnSpc>
                <a:spcPts val="950"/>
              </a:lnSpc>
              <a:spcBef>
                <a:spcPts val="2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$ACR_LOGIN_SERVER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=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acr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show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-name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$ACR_NAME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resource-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group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$RESOURCE_GROUP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-query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loginServer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output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tsv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894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acr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login --name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$ACR_NAME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800">
              <a:latin typeface="Consolas"/>
              <a:cs typeface="Consolas"/>
            </a:endParaRPr>
          </a:p>
          <a:p>
            <a:pPr marL="95250" marR="2499995">
              <a:lnSpc>
                <a:spcPts val="93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7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tag</a:t>
            </a:r>
            <a:r>
              <a:rPr sz="800" spc="8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app:v2</a:t>
            </a:r>
            <a:r>
              <a:rPr sz="800" spc="8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"$ACR_LOGIN_SERVER/hello-cloud-app:v2"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10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push</a:t>
            </a:r>
            <a:r>
              <a:rPr sz="800" spc="1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"$ACR_LOGIN_SERVER/hello-cloud-app:v2"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19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acr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repository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list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$ACR_NAME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--output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table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2061209"/>
            <a:ext cx="48475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 MT"/>
                <a:cs typeface="Arial MT"/>
              </a:rPr>
              <a:t>Expected </a:t>
            </a:r>
            <a:r>
              <a:rPr sz="1050" dirty="0">
                <a:latin typeface="Arial MT"/>
                <a:cs typeface="Arial MT"/>
              </a:rPr>
              <a:t>result: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10" dirty="0">
                <a:latin typeface="Arial MT"/>
                <a:cs typeface="Arial MT"/>
              </a:rPr>
              <a:t> repository</a:t>
            </a:r>
            <a:r>
              <a:rPr sz="1050" dirty="0">
                <a:latin typeface="Arial MT"/>
                <a:cs typeface="Arial MT"/>
              </a:rPr>
              <a:t> list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contains</a:t>
            </a:r>
            <a:r>
              <a:rPr sz="10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hello-cloud-</a:t>
            </a:r>
            <a:r>
              <a:rPr sz="1050" dirty="0">
                <a:latin typeface="Arial MT"/>
                <a:cs typeface="Arial MT"/>
              </a:rPr>
              <a:t>app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v2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tag.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9</a:t>
            </a:r>
            <a:r>
              <a:rPr sz="900" b="1" spc="2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</a:t>
            </a:r>
            <a:r>
              <a:rPr sz="900" b="1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ACR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Overview</a:t>
            </a:r>
            <a:r>
              <a:rPr sz="900" b="1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Repositories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page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v2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tag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67" y="2506091"/>
            <a:ext cx="6416675" cy="3017520"/>
            <a:chOff x="679767" y="2506091"/>
            <a:chExt cx="6416675" cy="3017520"/>
          </a:xfrm>
        </p:grpSpPr>
        <p:sp>
          <p:nvSpPr>
            <p:cNvPr id="6" name="object 6"/>
            <p:cNvSpPr/>
            <p:nvPr/>
          </p:nvSpPr>
          <p:spPr>
            <a:xfrm>
              <a:off x="692467" y="2518664"/>
              <a:ext cx="6390640" cy="2992120"/>
            </a:xfrm>
            <a:custGeom>
              <a:avLst/>
              <a:gdLst/>
              <a:ahLst/>
              <a:cxnLst/>
              <a:rect l="l" t="t" r="r" b="b"/>
              <a:pathLst>
                <a:path w="6390640" h="2992120">
                  <a:moveTo>
                    <a:pt x="6390640" y="0"/>
                  </a:moveTo>
                  <a:lnTo>
                    <a:pt x="0" y="0"/>
                  </a:lnTo>
                  <a:lnTo>
                    <a:pt x="0" y="2991866"/>
                  </a:lnTo>
                  <a:lnTo>
                    <a:pt x="6390640" y="2991866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9767" y="2506090"/>
              <a:ext cx="6416675" cy="3017520"/>
            </a:xfrm>
            <a:custGeom>
              <a:avLst/>
              <a:gdLst/>
              <a:ahLst/>
              <a:cxnLst/>
              <a:rect l="l" t="t" r="r" b="b"/>
              <a:pathLst>
                <a:path w="6416675" h="3017520">
                  <a:moveTo>
                    <a:pt x="6403340" y="0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76073"/>
                  </a:lnTo>
                  <a:lnTo>
                    <a:pt x="0" y="76200"/>
                  </a:lnTo>
                  <a:lnTo>
                    <a:pt x="0" y="3004439"/>
                  </a:lnTo>
                  <a:lnTo>
                    <a:pt x="0" y="3017139"/>
                  </a:lnTo>
                  <a:lnTo>
                    <a:pt x="12700" y="3017139"/>
                  </a:lnTo>
                  <a:lnTo>
                    <a:pt x="6403340" y="3017139"/>
                  </a:lnTo>
                  <a:lnTo>
                    <a:pt x="6403340" y="3004439"/>
                  </a:lnTo>
                  <a:lnTo>
                    <a:pt x="12700" y="3004439"/>
                  </a:lnTo>
                  <a:lnTo>
                    <a:pt x="12700" y="76200"/>
                  </a:lnTo>
                  <a:lnTo>
                    <a:pt x="12700" y="76073"/>
                  </a:lnTo>
                  <a:lnTo>
                    <a:pt x="12700" y="12700"/>
                  </a:lnTo>
                  <a:lnTo>
                    <a:pt x="6403340" y="12700"/>
                  </a:lnTo>
                  <a:lnTo>
                    <a:pt x="6403340" y="0"/>
                  </a:lnTo>
                  <a:close/>
                </a:path>
                <a:path w="6416675" h="3017520">
                  <a:moveTo>
                    <a:pt x="6416103" y="0"/>
                  </a:moveTo>
                  <a:lnTo>
                    <a:pt x="6403403" y="0"/>
                  </a:lnTo>
                  <a:lnTo>
                    <a:pt x="6403403" y="12700"/>
                  </a:lnTo>
                  <a:lnTo>
                    <a:pt x="6403403" y="76073"/>
                  </a:lnTo>
                  <a:lnTo>
                    <a:pt x="6403403" y="76200"/>
                  </a:lnTo>
                  <a:lnTo>
                    <a:pt x="6403403" y="3004439"/>
                  </a:lnTo>
                  <a:lnTo>
                    <a:pt x="6403403" y="3017139"/>
                  </a:lnTo>
                  <a:lnTo>
                    <a:pt x="6416103" y="3017139"/>
                  </a:lnTo>
                  <a:lnTo>
                    <a:pt x="6416103" y="3004439"/>
                  </a:lnTo>
                  <a:lnTo>
                    <a:pt x="6416103" y="76200"/>
                  </a:lnTo>
                  <a:lnTo>
                    <a:pt x="6416103" y="76073"/>
                  </a:lnTo>
                  <a:lnTo>
                    <a:pt x="6416103" y="12700"/>
                  </a:lnTo>
                  <a:lnTo>
                    <a:pt x="6416103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762" y="2581656"/>
              <a:ext cx="6238875" cy="271462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54433"/>
            <a:ext cx="6370320" cy="430784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11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Create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Azure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Kubernetes</a:t>
            </a:r>
            <a:r>
              <a:rPr sz="1600" b="1" spc="-10" dirty="0">
                <a:latin typeface="Arial"/>
                <a:cs typeface="Arial"/>
              </a:rPr>
              <a:t> Cluster</a:t>
            </a:r>
            <a:endParaRPr sz="1600">
              <a:latin typeface="Arial"/>
              <a:cs typeface="Arial"/>
            </a:endParaRPr>
          </a:p>
          <a:p>
            <a:pPr marL="12700" marR="29845">
              <a:lnSpc>
                <a:spcPct val="103299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following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PowerShell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route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ACR.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route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above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performs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setup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visually.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creation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take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several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minutes,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node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consume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credit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even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application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small.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300" b="1" dirty="0">
                <a:latin typeface="Calibri"/>
                <a:cs typeface="Calibri"/>
              </a:rPr>
              <a:t>Visual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Azure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Portal</a:t>
            </a:r>
            <a:r>
              <a:rPr sz="1300" b="1" spc="-20" dirty="0">
                <a:latin typeface="Calibri"/>
                <a:cs typeface="Calibri"/>
              </a:rPr>
              <a:t> Path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Keep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because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student-credit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lab.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1140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In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search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bar,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choose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cluster.</a:t>
            </a:r>
            <a:endParaRPr sz="1050">
              <a:latin typeface="Arial MT"/>
              <a:cs typeface="Arial MT"/>
            </a:endParaRPr>
          </a:p>
          <a:p>
            <a:pPr marL="160655" marR="5080" indent="-147955">
              <a:lnSpc>
                <a:spcPct val="101200"/>
              </a:lnSpc>
              <a:spcBef>
                <a:spcPts val="175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Basics,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</a:t>
            </a:r>
            <a:r>
              <a:rPr sz="1050" spc="-10" dirty="0">
                <a:latin typeface="Arial MT"/>
                <a:cs typeface="Arial MT"/>
              </a:rPr>
              <a:t> subscription,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rg-hello-</a:t>
            </a:r>
            <a:r>
              <a:rPr sz="1050" dirty="0">
                <a:latin typeface="Arial MT"/>
                <a:cs typeface="Arial MT"/>
              </a:rPr>
              <a:t>cloud,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chosen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region.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name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	</a:t>
            </a:r>
            <a:r>
              <a:rPr sz="1050" spc="-10" dirty="0">
                <a:latin typeface="Arial MT"/>
                <a:cs typeface="Arial MT"/>
              </a:rPr>
              <a:t>hello-cloud-</a:t>
            </a:r>
            <a:r>
              <a:rPr sz="1050" dirty="0">
                <a:latin typeface="Arial MT"/>
                <a:cs typeface="Arial MT"/>
              </a:rPr>
              <a:t>aks.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shown,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choose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Dev/Test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preset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Free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pricing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tier.</a:t>
            </a:r>
            <a:endParaRPr sz="1050">
              <a:latin typeface="Arial MT"/>
              <a:cs typeface="Arial MT"/>
            </a:endParaRPr>
          </a:p>
          <a:p>
            <a:pPr marL="160655" marR="141605" indent="-147955">
              <a:lnSpc>
                <a:spcPct val="101200"/>
              </a:lnSpc>
              <a:spcBef>
                <a:spcPts val="200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pools,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keep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Linux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count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Leave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availability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zones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disabled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for 	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small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exercise,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review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displayed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VM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cost.</a:t>
            </a:r>
            <a:endParaRPr sz="1050">
              <a:latin typeface="Arial MT"/>
              <a:cs typeface="Arial MT"/>
            </a:endParaRPr>
          </a:p>
          <a:p>
            <a:pPr marL="160655" marR="370840" indent="-147955">
              <a:lnSpc>
                <a:spcPct val="101200"/>
              </a:lnSpc>
              <a:spcBef>
                <a:spcPts val="175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If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includes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Integrations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tab,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hellocloudacr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registry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pull</a:t>
            </a:r>
            <a:r>
              <a:rPr sz="1050" spc="-25" dirty="0">
                <a:latin typeface="Arial MT"/>
                <a:cs typeface="Arial MT"/>
              </a:rPr>
              <a:t> the 	</a:t>
            </a:r>
            <a:r>
              <a:rPr sz="1050" dirty="0">
                <a:latin typeface="Arial MT"/>
                <a:cs typeface="Arial MT"/>
              </a:rPr>
              <a:t>private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available,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existing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--attach-</a:t>
            </a:r>
            <a:r>
              <a:rPr sz="1050" dirty="0">
                <a:latin typeface="Arial MT"/>
                <a:cs typeface="Arial MT"/>
              </a:rPr>
              <a:t>acr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route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below.</a:t>
            </a:r>
            <a:endParaRPr sz="1050">
              <a:latin typeface="Arial MT"/>
              <a:cs typeface="Arial MT"/>
            </a:endParaRPr>
          </a:p>
          <a:p>
            <a:pPr marL="160655" marR="189230" indent="-147955">
              <a:lnSpc>
                <a:spcPts val="1250"/>
              </a:lnSpc>
              <a:spcBef>
                <a:spcPts val="270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Review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wait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validation,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finishes,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	</a:t>
            </a:r>
            <a:r>
              <a:rPr sz="1050" spc="-10" dirty="0">
                <a:latin typeface="Arial MT"/>
                <a:cs typeface="Arial MT"/>
              </a:rPr>
              <a:t>resource.</a:t>
            </a:r>
            <a:endParaRPr sz="1050">
              <a:latin typeface="Arial MT"/>
              <a:cs typeface="Arial MT"/>
            </a:endParaRPr>
          </a:p>
          <a:p>
            <a:pPr marL="160655" marR="537210" indent="-147955">
              <a:lnSpc>
                <a:spcPct val="101200"/>
              </a:lnSpc>
              <a:spcBef>
                <a:spcPts val="160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Overview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page,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confirm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10" dirty="0">
                <a:latin typeface="Arial MT"/>
                <a:cs typeface="Arial MT"/>
              </a:rPr>
              <a:t> provisioning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succeeded.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follow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	</a:t>
            </a:r>
            <a:r>
              <a:rPr sz="1050" spc="-10" dirty="0">
                <a:latin typeface="Arial MT"/>
                <a:cs typeface="Arial MT"/>
              </a:rPr>
              <a:t>displayed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Cloud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Shell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command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instructions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kubectl.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215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resources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&gt;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confirm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status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Ready.</a:t>
            </a:r>
            <a:endParaRPr sz="1050">
              <a:latin typeface="Arial MT"/>
              <a:cs typeface="Arial MT"/>
            </a:endParaRPr>
          </a:p>
          <a:p>
            <a:pPr marL="12700" marR="290195">
              <a:lnSpc>
                <a:spcPct val="111300"/>
              </a:lnSpc>
              <a:spcBef>
                <a:spcPts val="45"/>
              </a:spcBef>
            </a:pPr>
            <a:r>
              <a:rPr sz="1050" b="1" dirty="0">
                <a:latin typeface="Arial"/>
                <a:cs typeface="Arial"/>
              </a:rPr>
              <a:t>Visual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checkpoint.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Capture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Overview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Kubernetes</a:t>
            </a:r>
            <a:r>
              <a:rPr sz="1050" spc="-10" dirty="0">
                <a:latin typeface="Arial MT"/>
                <a:cs typeface="Arial MT"/>
              </a:rPr>
              <a:t> resources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 </a:t>
            </a:r>
            <a:r>
              <a:rPr sz="1050" dirty="0">
                <a:latin typeface="Arial MT"/>
                <a:cs typeface="Arial MT"/>
              </a:rPr>
              <a:t>space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10.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4891023"/>
            <a:ext cx="6403975" cy="98171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>
              <a:lnSpc>
                <a:spcPts val="944"/>
              </a:lnSpc>
              <a:spcBef>
                <a:spcPts val="50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aks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create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`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940"/>
              </a:lnSpc>
            </a:pP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resource-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group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$RESOURCE_GROUP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`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940"/>
              </a:lnSpc>
            </a:pP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-name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$AKS_NAME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`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940"/>
              </a:lnSpc>
            </a:pP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node-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count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1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`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940"/>
              </a:lnSpc>
            </a:pP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enable-managed-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identity</a:t>
            </a:r>
            <a:r>
              <a:rPr sz="800" spc="9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`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940"/>
              </a:lnSpc>
            </a:pP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attach-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acr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$ACR_NAME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`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955"/>
              </a:lnSpc>
            </a:pP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generate-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ssh-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keys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660781"/>
            <a:ext cx="1835150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Connect</a:t>
            </a:r>
            <a:r>
              <a:rPr sz="1250" b="1" spc="-1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kubectl</a:t>
            </a:r>
            <a:r>
              <a:rPr sz="1250" b="1" spc="-4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to</a:t>
            </a:r>
            <a:r>
              <a:rPr sz="1250" b="1" spc="-5" dirty="0">
                <a:latin typeface="Arial"/>
                <a:cs typeface="Arial"/>
              </a:rPr>
              <a:t> </a:t>
            </a:r>
            <a:r>
              <a:rPr sz="1250" b="1" spc="-25" dirty="0">
                <a:latin typeface="Arial"/>
                <a:cs typeface="Arial"/>
              </a:rPr>
              <a:t>AKS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1121155"/>
            <a:ext cx="6403975" cy="505459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95250" marR="1102995">
              <a:lnSpc>
                <a:spcPts val="930"/>
              </a:lnSpc>
              <a:spcBef>
                <a:spcPts val="55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aks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get-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credentials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resource-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group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$RESOURCE_GROUP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$AKS_NAME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overwrite-existing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config</a:t>
            </a:r>
            <a:r>
              <a:rPr sz="800" spc="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current-context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19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nodes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1794509"/>
            <a:ext cx="5967730" cy="5721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spc="-10" dirty="0">
                <a:latin typeface="Arial MT"/>
                <a:cs typeface="Arial MT"/>
              </a:rPr>
              <a:t>Expected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result: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kubectl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connected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Ready.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local Kubernetes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commands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until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you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switch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context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back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docker-desktop.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10</a:t>
            </a:r>
            <a:r>
              <a:rPr sz="900" b="1" spc="204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</a:t>
            </a:r>
            <a:r>
              <a:rPr sz="900" b="1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AKS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Overview and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Ready</a:t>
            </a:r>
            <a:r>
              <a:rPr sz="90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node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Kubernetes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resources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67" y="2404046"/>
            <a:ext cx="6416675" cy="1455420"/>
            <a:chOff x="679767" y="2404046"/>
            <a:chExt cx="6416675" cy="1455420"/>
          </a:xfrm>
        </p:grpSpPr>
        <p:sp>
          <p:nvSpPr>
            <p:cNvPr id="6" name="object 6"/>
            <p:cNvSpPr/>
            <p:nvPr/>
          </p:nvSpPr>
          <p:spPr>
            <a:xfrm>
              <a:off x="692467" y="2416809"/>
              <a:ext cx="6390640" cy="1429385"/>
            </a:xfrm>
            <a:custGeom>
              <a:avLst/>
              <a:gdLst/>
              <a:ahLst/>
              <a:cxnLst/>
              <a:rect l="l" t="t" r="r" b="b"/>
              <a:pathLst>
                <a:path w="6390640" h="1429385">
                  <a:moveTo>
                    <a:pt x="6390640" y="0"/>
                  </a:moveTo>
                  <a:lnTo>
                    <a:pt x="0" y="0"/>
                  </a:lnTo>
                  <a:lnTo>
                    <a:pt x="0" y="1429384"/>
                  </a:lnTo>
                  <a:lnTo>
                    <a:pt x="6390640" y="1429384"/>
                  </a:lnTo>
                  <a:lnTo>
                    <a:pt x="639064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9767" y="2404058"/>
              <a:ext cx="6416675" cy="1455420"/>
            </a:xfrm>
            <a:custGeom>
              <a:avLst/>
              <a:gdLst/>
              <a:ahLst/>
              <a:cxnLst/>
              <a:rect l="l" t="t" r="r" b="b"/>
              <a:pathLst>
                <a:path w="6416675" h="1455420">
                  <a:moveTo>
                    <a:pt x="6403340" y="50"/>
                  </a:moveTo>
                  <a:lnTo>
                    <a:pt x="12700" y="50"/>
                  </a:lnTo>
                  <a:lnTo>
                    <a:pt x="0" y="0"/>
                  </a:lnTo>
                  <a:lnTo>
                    <a:pt x="0" y="1454835"/>
                  </a:lnTo>
                  <a:lnTo>
                    <a:pt x="12700" y="1454835"/>
                  </a:lnTo>
                  <a:lnTo>
                    <a:pt x="6403340" y="1454835"/>
                  </a:lnTo>
                  <a:lnTo>
                    <a:pt x="6403340" y="1442135"/>
                  </a:lnTo>
                  <a:lnTo>
                    <a:pt x="12700" y="1442135"/>
                  </a:lnTo>
                  <a:lnTo>
                    <a:pt x="12700" y="76504"/>
                  </a:lnTo>
                  <a:lnTo>
                    <a:pt x="12700" y="12750"/>
                  </a:lnTo>
                  <a:lnTo>
                    <a:pt x="6403340" y="12750"/>
                  </a:lnTo>
                  <a:lnTo>
                    <a:pt x="6403340" y="50"/>
                  </a:lnTo>
                  <a:close/>
                </a:path>
                <a:path w="6416675" h="1455420">
                  <a:moveTo>
                    <a:pt x="6416103" y="0"/>
                  </a:moveTo>
                  <a:lnTo>
                    <a:pt x="6403403" y="0"/>
                  </a:lnTo>
                  <a:lnTo>
                    <a:pt x="6403403" y="12750"/>
                  </a:lnTo>
                  <a:lnTo>
                    <a:pt x="6403403" y="76504"/>
                  </a:lnTo>
                  <a:lnTo>
                    <a:pt x="6403403" y="1442135"/>
                  </a:lnTo>
                  <a:lnTo>
                    <a:pt x="6403403" y="1454835"/>
                  </a:lnTo>
                  <a:lnTo>
                    <a:pt x="6416103" y="1454835"/>
                  </a:lnTo>
                  <a:lnTo>
                    <a:pt x="6416103" y="1442135"/>
                  </a:lnTo>
                  <a:lnTo>
                    <a:pt x="6416103" y="76504"/>
                  </a:lnTo>
                  <a:lnTo>
                    <a:pt x="6416103" y="12750"/>
                  </a:lnTo>
                  <a:lnTo>
                    <a:pt x="6416103" y="5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762" y="2480182"/>
              <a:ext cx="6238875" cy="115252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54433"/>
            <a:ext cx="6201410" cy="134112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12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Deploy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Image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Azure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AKS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3200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second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manifest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only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important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change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now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from </a:t>
            </a:r>
            <a:r>
              <a:rPr sz="1050" dirty="0">
                <a:latin typeface="Arial MT"/>
                <a:cs typeface="Arial MT"/>
              </a:rPr>
              <a:t>ACR.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Service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type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LoadBalancer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provide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public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IP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address.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250" b="1" dirty="0">
                <a:latin typeface="Arial"/>
                <a:cs typeface="Arial"/>
              </a:rPr>
              <a:t>File</a:t>
            </a:r>
            <a:r>
              <a:rPr sz="1250" b="1" spc="-3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Five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Azure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Kubernetes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Configuration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YAML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1921510"/>
            <a:ext cx="6403975" cy="526605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95250" marR="5240020">
              <a:lnSpc>
                <a:spcPct val="97700"/>
              </a:lnSpc>
              <a:spcBef>
                <a:spcPts val="54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apiVersion: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apps/v1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kind: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Deployment metadata:</a:t>
            </a:r>
            <a:endParaRPr sz="800">
              <a:latin typeface="Consolas"/>
              <a:cs typeface="Consolas"/>
            </a:endParaRPr>
          </a:p>
          <a:p>
            <a:pPr marL="95250" marR="5011420" indent="114300">
              <a:lnSpc>
                <a:spcPts val="950"/>
              </a:lnSpc>
              <a:spcBef>
                <a:spcPts val="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name: 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spec: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894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replicas: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2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94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selector:</a:t>
            </a:r>
            <a:endParaRPr sz="800">
              <a:latin typeface="Consolas"/>
              <a:cs typeface="Consolas"/>
            </a:endParaRPr>
          </a:p>
          <a:p>
            <a:pPr marL="320675">
              <a:lnSpc>
                <a:spcPts val="94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matchLabels:</a:t>
            </a:r>
            <a:endParaRPr sz="800">
              <a:latin typeface="Consolas"/>
              <a:cs typeface="Consolas"/>
            </a:endParaRPr>
          </a:p>
          <a:p>
            <a:pPr marL="209550" marR="4846955" indent="222250">
              <a:lnSpc>
                <a:spcPts val="930"/>
              </a:lnSpc>
              <a:spcBef>
                <a:spcPts val="5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template:</a:t>
            </a:r>
            <a:endParaRPr sz="800">
              <a:latin typeface="Consolas"/>
              <a:cs typeface="Consolas"/>
            </a:endParaRPr>
          </a:p>
          <a:p>
            <a:pPr marR="5572125" algn="r">
              <a:lnSpc>
                <a:spcPts val="89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metadata:</a:t>
            </a:r>
            <a:endParaRPr sz="800">
              <a:latin typeface="Consolas"/>
              <a:cs typeface="Consolas"/>
            </a:endParaRPr>
          </a:p>
          <a:p>
            <a:pPr marR="5572125" algn="r">
              <a:lnSpc>
                <a:spcPts val="94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labels:</a:t>
            </a:r>
            <a:endParaRPr sz="800">
              <a:latin typeface="Consolas"/>
              <a:cs typeface="Consolas"/>
            </a:endParaRPr>
          </a:p>
          <a:p>
            <a:pPr marL="320675" marR="4732020" indent="222250">
              <a:lnSpc>
                <a:spcPts val="950"/>
              </a:lnSpc>
              <a:spcBef>
                <a:spcPts val="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spec:</a:t>
            </a:r>
            <a:endParaRPr sz="800">
              <a:latin typeface="Consolas"/>
              <a:cs typeface="Consolas"/>
            </a:endParaRPr>
          </a:p>
          <a:p>
            <a:pPr marL="431800">
              <a:lnSpc>
                <a:spcPts val="89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containers:</a:t>
            </a:r>
            <a:endParaRPr sz="800">
              <a:latin typeface="Consolas"/>
              <a:cs typeface="Consolas"/>
            </a:endParaRPr>
          </a:p>
          <a:p>
            <a:pPr marL="542925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name: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endParaRPr sz="800">
              <a:latin typeface="Consolas"/>
              <a:cs typeface="Consolas"/>
            </a:endParaRPr>
          </a:p>
          <a:p>
            <a:pPr marL="657225" marR="3392804">
              <a:lnSpc>
                <a:spcPts val="950"/>
              </a:lnSpc>
              <a:spcBef>
                <a:spcPts val="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image:</a:t>
            </a:r>
            <a:r>
              <a:rPr sz="800" spc="19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ACR_LOGIN_SERVER/hello-cloud-app:v2 ports:</a:t>
            </a:r>
            <a:endParaRPr sz="800">
              <a:latin typeface="Consolas"/>
              <a:cs typeface="Consolas"/>
            </a:endParaRPr>
          </a:p>
          <a:p>
            <a:pPr marL="768350">
              <a:lnSpc>
                <a:spcPts val="89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containerPort: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5000</a:t>
            </a:r>
            <a:endParaRPr sz="800">
              <a:latin typeface="Consolas"/>
              <a:cs typeface="Consolas"/>
            </a:endParaRPr>
          </a:p>
          <a:p>
            <a:pPr marL="768350" marR="4902200" indent="-111125">
              <a:lnSpc>
                <a:spcPts val="930"/>
              </a:lnSpc>
              <a:spcBef>
                <a:spcPts val="50"/>
              </a:spcBef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readinessProbe: httpGet:</a:t>
            </a:r>
            <a:endParaRPr sz="800">
              <a:latin typeface="Consolas"/>
              <a:cs typeface="Consolas"/>
            </a:endParaRPr>
          </a:p>
          <a:p>
            <a:pPr marL="879475" marR="4791075">
              <a:lnSpc>
                <a:spcPts val="930"/>
              </a:lnSpc>
              <a:spcBef>
                <a:spcPts val="1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path: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/health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port: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5000</a:t>
            </a:r>
            <a:endParaRPr sz="800">
              <a:latin typeface="Consolas"/>
              <a:cs typeface="Consolas"/>
            </a:endParaRPr>
          </a:p>
          <a:p>
            <a:pPr marL="768350">
              <a:lnSpc>
                <a:spcPts val="90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initialDelaySeconds:</a:t>
            </a:r>
            <a:r>
              <a:rPr sz="800" spc="-8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3</a:t>
            </a:r>
            <a:endParaRPr sz="800">
              <a:latin typeface="Consolas"/>
              <a:cs typeface="Consolas"/>
            </a:endParaRPr>
          </a:p>
          <a:p>
            <a:pPr marL="657225" marR="4734560" indent="111125">
              <a:lnSpc>
                <a:spcPts val="950"/>
              </a:lnSpc>
              <a:spcBef>
                <a:spcPts val="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periodSeconds: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5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livenessProbe:</a:t>
            </a:r>
            <a:endParaRPr sz="800">
              <a:latin typeface="Consolas"/>
              <a:cs typeface="Consolas"/>
            </a:endParaRPr>
          </a:p>
          <a:p>
            <a:pPr marL="768350">
              <a:lnSpc>
                <a:spcPts val="88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httpGet:</a:t>
            </a:r>
            <a:endParaRPr sz="800">
              <a:latin typeface="Consolas"/>
              <a:cs typeface="Consolas"/>
            </a:endParaRPr>
          </a:p>
          <a:p>
            <a:pPr marL="879475" marR="4791075">
              <a:lnSpc>
                <a:spcPts val="950"/>
              </a:lnSpc>
              <a:spcBef>
                <a:spcPts val="2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path: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/health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port: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5000</a:t>
            </a:r>
            <a:endParaRPr sz="800">
              <a:latin typeface="Consolas"/>
              <a:cs typeface="Consolas"/>
            </a:endParaRPr>
          </a:p>
          <a:p>
            <a:pPr marL="768350">
              <a:lnSpc>
                <a:spcPts val="894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initialDelaySeconds:</a:t>
            </a:r>
            <a:r>
              <a:rPr sz="800" spc="-8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10</a:t>
            </a:r>
            <a:endParaRPr sz="800">
              <a:latin typeface="Consolas"/>
              <a:cs typeface="Consolas"/>
            </a:endParaRPr>
          </a:p>
          <a:p>
            <a:pPr marL="768350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periodSeconds:</a:t>
            </a:r>
            <a:r>
              <a:rPr sz="800" spc="-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10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---</a:t>
            </a:r>
            <a:endParaRPr sz="800">
              <a:latin typeface="Consolas"/>
              <a:cs typeface="Consolas"/>
            </a:endParaRPr>
          </a:p>
          <a:p>
            <a:pPr marL="95250" marR="5518785">
              <a:lnSpc>
                <a:spcPct val="97700"/>
              </a:lnSpc>
              <a:spcBef>
                <a:spcPts val="2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apiVersion: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v1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kind: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Service metadata:</a:t>
            </a:r>
            <a:endParaRPr sz="800">
              <a:latin typeface="Consolas"/>
              <a:cs typeface="Consolas"/>
            </a:endParaRPr>
          </a:p>
          <a:p>
            <a:pPr marL="95250" marR="5011420" indent="114300">
              <a:lnSpc>
                <a:spcPts val="950"/>
              </a:lnSpc>
              <a:spcBef>
                <a:spcPts val="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name: 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spec:</a:t>
            </a:r>
            <a:endParaRPr sz="800">
              <a:latin typeface="Consolas"/>
              <a:cs typeface="Consolas"/>
            </a:endParaRPr>
          </a:p>
          <a:p>
            <a:pPr marL="209550">
              <a:lnSpc>
                <a:spcPts val="890"/>
              </a:lnSpc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selector:</a:t>
            </a:r>
            <a:endParaRPr sz="800">
              <a:latin typeface="Consolas"/>
              <a:cs typeface="Consolas"/>
            </a:endParaRPr>
          </a:p>
          <a:p>
            <a:pPr marL="209550" marR="4958080" indent="111125">
              <a:lnSpc>
                <a:spcPct val="97700"/>
              </a:lnSpc>
              <a:spcBef>
                <a:spcPts val="1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type:</a:t>
            </a:r>
            <a:r>
              <a:rPr sz="800" spc="-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LoadBalancer ports:</a:t>
            </a:r>
            <a:endParaRPr sz="800">
              <a:latin typeface="Consolas"/>
              <a:cs typeface="Consolas"/>
            </a:endParaRPr>
          </a:p>
          <a:p>
            <a:pPr marL="320675">
              <a:lnSpc>
                <a:spcPts val="91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port: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80</a:t>
            </a:r>
            <a:endParaRPr sz="800">
              <a:latin typeface="Consolas"/>
              <a:cs typeface="Consolas"/>
            </a:endParaRPr>
          </a:p>
          <a:p>
            <a:pPr marL="431800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targetPort: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5000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7359015"/>
            <a:ext cx="6402070" cy="5645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spc="-10" dirty="0">
                <a:latin typeface="Arial MT"/>
                <a:cs typeface="Arial MT"/>
              </a:rPr>
              <a:t>Replace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text</a:t>
            </a:r>
            <a:r>
              <a:rPr sz="1050" spc="-10" dirty="0">
                <a:latin typeface="Arial MT"/>
                <a:cs typeface="Arial MT"/>
              </a:rPr>
              <a:t> ACR_LOGIN_SERVER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value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printed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variable.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example,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look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like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replacement: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YAML</a:t>
            </a:r>
            <a:r>
              <a:rPr sz="85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example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117" y="7949565"/>
            <a:ext cx="6403975" cy="26987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image:</a:t>
            </a:r>
            <a:r>
              <a:rPr sz="800" spc="3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hellocloudacr1234.azurecr.io/hello-cloud-app:v2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417" y="8289150"/>
            <a:ext cx="6379845" cy="9385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300" b="1" dirty="0">
                <a:latin typeface="Calibri"/>
                <a:cs typeface="Calibri"/>
              </a:rPr>
              <a:t>Visual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Azure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Portal</a:t>
            </a:r>
            <a:r>
              <a:rPr sz="1300" b="1" spc="-10" dirty="0">
                <a:latin typeface="Calibri"/>
                <a:cs typeface="Calibri"/>
              </a:rPr>
              <a:t> Deployment </a:t>
            </a:r>
            <a:r>
              <a:rPr sz="1300" b="1" spc="-20" dirty="0">
                <a:latin typeface="Calibri"/>
                <a:cs typeface="Calibri"/>
              </a:rPr>
              <a:t>Path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09200"/>
              </a:lnSpc>
              <a:spcBef>
                <a:spcPts val="150"/>
              </a:spcBef>
            </a:pP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replacing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ACR_LOGIN_SERVER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File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Five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login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server,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YAML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spc="-10" dirty="0">
                <a:latin typeface="Arial MT"/>
                <a:cs typeface="Arial MT"/>
              </a:rPr>
              <a:t>browser.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050" b="1" dirty="0">
                <a:latin typeface="Arial"/>
                <a:cs typeface="Arial"/>
              </a:rPr>
              <a:t>1.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Under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resources,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10" dirty="0">
                <a:latin typeface="Arial MT"/>
                <a:cs typeface="Arial MT"/>
              </a:rPr>
              <a:t> Services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ingresses.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47751"/>
            <a:ext cx="6347460" cy="24339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60655" indent="-147955">
              <a:lnSpc>
                <a:spcPct val="100000"/>
              </a:lnSpc>
              <a:spcBef>
                <a:spcPts val="315"/>
              </a:spcBef>
              <a:buFont typeface="Arial"/>
              <a:buAutoNum type="arabicPeriod" startAt="2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&gt;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YAML.</a:t>
            </a:r>
            <a:endParaRPr sz="1050">
              <a:latin typeface="Arial MT"/>
              <a:cs typeface="Arial MT"/>
            </a:endParaRPr>
          </a:p>
          <a:p>
            <a:pPr marL="160655" marR="95885" indent="-147955">
              <a:lnSpc>
                <a:spcPct val="101200"/>
              </a:lnSpc>
              <a:spcBef>
                <a:spcPts val="200"/>
              </a:spcBef>
              <a:buFont typeface="Arial"/>
              <a:buAutoNum type="arabicPeriod" startAt="2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Paste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complete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content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k8s-azure.yaml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editor.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Next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Review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step, 	</a:t>
            </a:r>
            <a:r>
              <a:rPr sz="1050" dirty="0">
                <a:latin typeface="Arial MT"/>
                <a:cs typeface="Arial MT"/>
              </a:rPr>
              <a:t>continue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review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screen.</a:t>
            </a:r>
            <a:endParaRPr sz="1050">
              <a:latin typeface="Arial MT"/>
              <a:cs typeface="Arial MT"/>
            </a:endParaRPr>
          </a:p>
          <a:p>
            <a:pPr marL="160655" marR="34925" indent="-147955">
              <a:lnSpc>
                <a:spcPct val="101200"/>
              </a:lnSpc>
              <a:spcBef>
                <a:spcPts val="175"/>
              </a:spcBef>
              <a:buFont typeface="Arial"/>
              <a:buAutoNum type="arabicPeriod" startAt="2"/>
              <a:tabLst>
                <a:tab pos="269875" algn="l"/>
              </a:tabLst>
            </a:pPr>
            <a:r>
              <a:rPr sz="1050" spc="-10" dirty="0">
                <a:latin typeface="Arial MT"/>
                <a:cs typeface="Arial MT"/>
              </a:rPr>
              <a:t>Review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hello-cloud-</a:t>
            </a:r>
            <a:r>
              <a:rPr sz="1050" dirty="0">
                <a:latin typeface="Arial MT"/>
                <a:cs typeface="Arial MT"/>
              </a:rPr>
              <a:t>app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LoadBalancer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Close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or 	</a:t>
            </a:r>
            <a:r>
              <a:rPr sz="1050" dirty="0">
                <a:latin typeface="Arial MT"/>
                <a:cs typeface="Arial MT"/>
              </a:rPr>
              <a:t>Apply,</a:t>
            </a:r>
            <a:r>
              <a:rPr sz="1050" spc="-10" dirty="0">
                <a:latin typeface="Arial MT"/>
                <a:cs typeface="Arial MT"/>
              </a:rPr>
              <a:t> depending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view.</a:t>
            </a:r>
            <a:endParaRPr sz="1050">
              <a:latin typeface="Arial MT"/>
              <a:cs typeface="Arial MT"/>
            </a:endParaRPr>
          </a:p>
          <a:p>
            <a:pPr marL="160655" marR="5080" indent="-147955">
              <a:lnSpc>
                <a:spcPts val="1250"/>
              </a:lnSpc>
              <a:spcBef>
                <a:spcPts val="265"/>
              </a:spcBef>
              <a:buFont typeface="Arial"/>
              <a:buAutoNum type="arabicPeriod" startAt="2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Workloads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&gt;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Deployments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confirm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hello-</a:t>
            </a:r>
            <a:r>
              <a:rPr sz="1050" spc="-10" dirty="0">
                <a:latin typeface="Arial MT"/>
                <a:cs typeface="Arial MT"/>
              </a:rPr>
              <a:t>cloud-</a:t>
            </a:r>
            <a:r>
              <a:rPr sz="1050" dirty="0">
                <a:latin typeface="Arial MT"/>
                <a:cs typeface="Arial MT"/>
              </a:rPr>
              <a:t>app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has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ready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replicas.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Services 	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ingresses,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hello-cloud-</a:t>
            </a:r>
            <a:r>
              <a:rPr sz="1050" dirty="0">
                <a:latin typeface="Arial MT"/>
                <a:cs typeface="Arial MT"/>
              </a:rPr>
              <a:t>app,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wait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External</a:t>
            </a:r>
            <a:r>
              <a:rPr sz="1050" spc="-25" dirty="0">
                <a:latin typeface="Arial MT"/>
                <a:cs typeface="Arial MT"/>
              </a:rPr>
              <a:t> IP.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175"/>
              </a:spcBef>
              <a:buFont typeface="Arial"/>
              <a:buAutoNum type="arabicPeriod" startAt="2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External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IP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browser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/health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test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health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endpoint.</a:t>
            </a:r>
            <a:endParaRPr sz="1050">
              <a:latin typeface="Arial MT"/>
              <a:cs typeface="Arial MT"/>
            </a:endParaRPr>
          </a:p>
          <a:p>
            <a:pPr marL="12700" marR="179705">
              <a:lnSpc>
                <a:spcPct val="109100"/>
              </a:lnSpc>
              <a:spcBef>
                <a:spcPts val="100"/>
              </a:spcBef>
            </a:pPr>
            <a:r>
              <a:rPr sz="1050" b="1" dirty="0">
                <a:latin typeface="Arial"/>
                <a:cs typeface="Arial"/>
              </a:rPr>
              <a:t>If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Apply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YAML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is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not</a:t>
            </a:r>
            <a:r>
              <a:rPr sz="1050" b="1" spc="-3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visible.</a:t>
            </a:r>
            <a:r>
              <a:rPr sz="1050" b="1" spc="1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&gt;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Overview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&gt;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Cloud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Shell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existing PowerShell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route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below.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latin typeface="Arial MT"/>
                <a:cs typeface="Arial MT"/>
              </a:rPr>
              <a:t>Optional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PowerShell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shortcut: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replace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placeholder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automatically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applying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file.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3007741"/>
            <a:ext cx="6403975" cy="74358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95250" marR="264795">
              <a:lnSpc>
                <a:spcPts val="950"/>
              </a:lnSpc>
              <a:spcBef>
                <a:spcPts val="54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(Get-Content</a:t>
            </a:r>
            <a:r>
              <a:rPr sz="800" spc="-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.\k8s-azure.yaml)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-replace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'ACR_LOGIN_SERVER',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$ACR_LOGIN_SERVER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| Set-Content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.\k8s-azure.yaml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apply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-f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.\k8s-azure.yaml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89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rollout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status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4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pods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44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service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3922395"/>
            <a:ext cx="548957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External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IP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remain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pending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minutes.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Watch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until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IP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address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appears.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117" y="4347845"/>
            <a:ext cx="6403975" cy="26733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0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service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hello-cloud-app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watch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417" y="4786248"/>
            <a:ext cx="6259830" cy="5721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Press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Ctrl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plus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external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IP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appears.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  <a:hlinkClick r:id="rId2"/>
              </a:rPr>
              <a:t>http://EXTERNAL-</a:t>
            </a:r>
            <a:r>
              <a:rPr sz="1050" dirty="0">
                <a:latin typeface="Arial MT"/>
                <a:cs typeface="Arial MT"/>
                <a:hlinkClick r:id="rId2"/>
              </a:rPr>
              <a:t>IP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browser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/health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</a:t>
            </a:r>
            <a:r>
              <a:rPr sz="1050" dirty="0">
                <a:latin typeface="Arial MT"/>
                <a:cs typeface="Arial MT"/>
              </a:rPr>
              <a:t>test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health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endpoint.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11</a:t>
            </a:r>
            <a:r>
              <a:rPr sz="900" b="1" spc="2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</a:t>
            </a:r>
            <a:r>
              <a:rPr sz="900" b="1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Services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ingresses</a:t>
            </a:r>
            <a:r>
              <a:rPr sz="90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External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IP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app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running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browser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117" y="5402198"/>
            <a:ext cx="6403975" cy="1556385"/>
          </a:xfrm>
          <a:prstGeom prst="rect">
            <a:avLst/>
          </a:prstGeom>
          <a:solidFill>
            <a:srgbClr val="F9F9F9"/>
          </a:solidFill>
          <a:ln w="12700">
            <a:solidFill>
              <a:srgbClr val="B7B7B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999999"/>
                </a:solidFill>
                <a:latin typeface="Arial"/>
                <a:cs typeface="Arial"/>
              </a:rPr>
              <a:t>Insert</a:t>
            </a:r>
            <a:r>
              <a:rPr sz="1100" i="1" spc="-4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9999"/>
                </a:solidFill>
                <a:latin typeface="Arial"/>
                <a:cs typeface="Arial"/>
              </a:rPr>
              <a:t>screenshot</a:t>
            </a:r>
            <a:r>
              <a:rPr sz="1100" i="1" spc="-4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999999"/>
                </a:solidFill>
                <a:latin typeface="Arial"/>
                <a:cs typeface="Arial"/>
              </a:rPr>
              <a:t>here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417" y="7124706"/>
            <a:ext cx="6068060" cy="134175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13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Update the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Azure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Application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3200"/>
              </a:lnSpc>
              <a:spcBef>
                <a:spcPts val="695"/>
              </a:spcBef>
            </a:pPr>
            <a:r>
              <a:rPr sz="1050" dirty="0">
                <a:latin typeface="Arial MT"/>
                <a:cs typeface="Arial MT"/>
              </a:rPr>
              <a:t>Build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push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three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Cloud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Shell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below.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through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PowerShell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route.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50" b="1" dirty="0">
                <a:latin typeface="Arial"/>
                <a:cs typeface="Arial"/>
              </a:rPr>
              <a:t>Change</a:t>
            </a:r>
            <a:r>
              <a:rPr sz="1250" b="1" spc="-2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the</a:t>
            </a:r>
            <a:r>
              <a:rPr sz="1250" b="1" spc="-2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App</a:t>
            </a:r>
            <a:r>
              <a:rPr sz="1250" b="1" spc="-1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to</a:t>
            </a:r>
            <a:r>
              <a:rPr sz="1250" b="1" spc="-1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Version</a:t>
            </a:r>
            <a:r>
              <a:rPr sz="1250" b="1" spc="-35" dirty="0">
                <a:latin typeface="Arial"/>
                <a:cs typeface="Arial"/>
              </a:rPr>
              <a:t> </a:t>
            </a:r>
            <a:r>
              <a:rPr sz="1250" b="1" spc="-20" dirty="0">
                <a:latin typeface="Arial"/>
                <a:cs typeface="Arial"/>
              </a:rPr>
              <a:t>Three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Python</a:t>
            </a:r>
            <a:r>
              <a:rPr sz="85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change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117" y="8495886"/>
            <a:ext cx="6403975" cy="65786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0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APP_VERSION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=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"v3"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800">
              <a:latin typeface="Consolas"/>
              <a:cs typeface="Consolas"/>
            </a:endParaRPr>
          </a:p>
          <a:p>
            <a:pPr marL="95250" marR="3899535">
              <a:lnSpc>
                <a:spcPts val="93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#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Use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new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message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inside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home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message="Version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three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is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running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on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Azure"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050DAE-8535-737B-9C59-8B65B26AB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7" y="5567043"/>
            <a:ext cx="5726427" cy="12191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71881"/>
            <a:ext cx="2337435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Build</a:t>
            </a:r>
            <a:r>
              <a:rPr sz="1250" b="1" spc="-1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and</a:t>
            </a:r>
            <a:r>
              <a:rPr sz="1250" b="1" spc="-1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Push</a:t>
            </a:r>
            <a:r>
              <a:rPr sz="1250" b="1" spc="-3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the</a:t>
            </a:r>
            <a:r>
              <a:rPr sz="1250" b="1" spc="-2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New</a:t>
            </a:r>
            <a:r>
              <a:rPr sz="1250" b="1" spc="-20" dirty="0">
                <a:latin typeface="Arial"/>
                <a:cs typeface="Arial"/>
              </a:rPr>
              <a:t> Image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1032255"/>
            <a:ext cx="6403975" cy="505459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>
              <a:lnSpc>
                <a:spcPts val="940"/>
              </a:lnSpc>
              <a:spcBef>
                <a:spcPts val="50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build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-t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app:v3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.</a:t>
            </a:r>
            <a:endParaRPr sz="800">
              <a:latin typeface="Consolas"/>
              <a:cs typeface="Consolas"/>
            </a:endParaRPr>
          </a:p>
          <a:p>
            <a:pPr marL="95250" marR="2499995">
              <a:lnSpc>
                <a:spcPts val="950"/>
              </a:lnSpc>
              <a:spcBef>
                <a:spcPts val="2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7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tag</a:t>
            </a:r>
            <a:r>
              <a:rPr sz="800" spc="8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app:v3</a:t>
            </a:r>
            <a:r>
              <a:rPr sz="800" spc="8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"$ACR_LOGIN_SERVER/hello-cloud-app:v3"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10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push</a:t>
            </a:r>
            <a:r>
              <a:rPr sz="800" spc="1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"$ACR_LOGIN_SERVER/hello-cloud-app:v3"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1794509"/>
            <a:ext cx="2847975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Tell</a:t>
            </a:r>
            <a:r>
              <a:rPr sz="1250" b="1" spc="-4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Kubernetes</a:t>
            </a:r>
            <a:r>
              <a:rPr sz="1250" b="1" spc="-3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to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Use</a:t>
            </a:r>
            <a:r>
              <a:rPr sz="1250" b="1" spc="-3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Version</a:t>
            </a:r>
            <a:r>
              <a:rPr sz="1250" b="1" spc="-30" dirty="0">
                <a:latin typeface="Arial"/>
                <a:cs typeface="Arial"/>
              </a:rPr>
              <a:t> </a:t>
            </a:r>
            <a:r>
              <a:rPr sz="1250" b="1" spc="-20" dirty="0">
                <a:latin typeface="Arial"/>
                <a:cs typeface="Arial"/>
              </a:rPr>
              <a:t>Three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117" y="2254885"/>
            <a:ext cx="6403975" cy="62293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95250">
              <a:lnSpc>
                <a:spcPts val="944"/>
              </a:lnSpc>
              <a:spcBef>
                <a:spcPts val="50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set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image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deployment/hello-cloud-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50" dirty="0">
                <a:solidFill>
                  <a:srgbClr val="1F2023"/>
                </a:solidFill>
                <a:latin typeface="Consolas"/>
                <a:cs typeface="Consolas"/>
              </a:rPr>
              <a:t>`</a:t>
            </a:r>
            <a:endParaRPr sz="800">
              <a:latin typeface="Consolas"/>
              <a:cs typeface="Consolas"/>
            </a:endParaRPr>
          </a:p>
          <a:p>
            <a:pPr marL="95250" marR="3169920" indent="114300">
              <a:lnSpc>
                <a:spcPct val="97700"/>
              </a:lnSpc>
              <a:spcBef>
                <a:spcPts val="5"/>
              </a:spcBef>
            </a:pP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hello-cloud-app="$ACR_LOGIN_SERVER/hello-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app:v3"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rollout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status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r>
              <a:rPr sz="800" spc="50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pods</a:t>
            </a:r>
            <a:r>
              <a:rPr sz="800" spc="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o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wide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417" y="3049016"/>
            <a:ext cx="6344285" cy="29832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16839">
              <a:lnSpc>
                <a:spcPct val="103299"/>
              </a:lnSpc>
              <a:spcBef>
                <a:spcPts val="55"/>
              </a:spcBef>
            </a:pPr>
            <a:r>
              <a:rPr sz="1050" dirty="0">
                <a:latin typeface="Arial MT"/>
                <a:cs typeface="Arial MT"/>
              </a:rPr>
              <a:t>Refresh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public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IP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address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browser.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keeps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address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stable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while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it </a:t>
            </a:r>
            <a:r>
              <a:rPr sz="1050" dirty="0">
                <a:latin typeface="Arial MT"/>
                <a:cs typeface="Arial MT"/>
              </a:rPr>
              <a:t>replaces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old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fail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their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health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check,</a:t>
            </a:r>
            <a:r>
              <a:rPr sz="1050" spc="-10" dirty="0">
                <a:latin typeface="Arial MT"/>
                <a:cs typeface="Arial MT"/>
              </a:rPr>
              <a:t> Kubernetes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not </a:t>
            </a:r>
            <a:r>
              <a:rPr sz="1050" spc="-10" dirty="0">
                <a:latin typeface="Arial MT"/>
                <a:cs typeface="Arial MT"/>
              </a:rPr>
              <a:t>consider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them</a:t>
            </a:r>
            <a:r>
              <a:rPr sz="1050" spc="-10" dirty="0">
                <a:latin typeface="Arial MT"/>
                <a:cs typeface="Arial MT"/>
              </a:rPr>
              <a:t> ready.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300" b="1" dirty="0">
                <a:latin typeface="Calibri"/>
                <a:cs typeface="Calibri"/>
              </a:rPr>
              <a:t>Visual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Azure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Portal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Update</a:t>
            </a:r>
            <a:r>
              <a:rPr sz="1300" b="1" spc="-50" dirty="0">
                <a:latin typeface="Calibri"/>
                <a:cs typeface="Calibri"/>
              </a:rPr>
              <a:t> </a:t>
            </a:r>
            <a:r>
              <a:rPr sz="1300" b="1" spc="-20" dirty="0">
                <a:latin typeface="Calibri"/>
                <a:cs typeface="Calibri"/>
              </a:rPr>
              <a:t>Path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v3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pushed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ACR,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reference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portal.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1140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 &gt;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resources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&gt;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Workloads</a:t>
            </a:r>
            <a:r>
              <a:rPr sz="1050" dirty="0">
                <a:latin typeface="Arial MT"/>
                <a:cs typeface="Arial MT"/>
              </a:rPr>
              <a:t> &gt;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Deployments</a:t>
            </a:r>
            <a:r>
              <a:rPr sz="1050" dirty="0">
                <a:latin typeface="Arial MT"/>
                <a:cs typeface="Arial MT"/>
              </a:rPr>
              <a:t> and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hello-cloud-</a:t>
            </a:r>
            <a:r>
              <a:rPr sz="1050" spc="-20" dirty="0">
                <a:latin typeface="Arial MT"/>
                <a:cs typeface="Arial MT"/>
              </a:rPr>
              <a:t>app.</a:t>
            </a:r>
            <a:endParaRPr sz="1050">
              <a:latin typeface="Arial MT"/>
              <a:cs typeface="Arial MT"/>
            </a:endParaRPr>
          </a:p>
          <a:p>
            <a:pPr marL="160655" marR="257810" indent="-147955">
              <a:lnSpc>
                <a:spcPct val="101200"/>
              </a:lnSpc>
              <a:spcBef>
                <a:spcPts val="180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YAML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Edit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YAML,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depending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view.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ending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:v2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and 	</a:t>
            </a:r>
            <a:r>
              <a:rPr sz="1050" dirty="0">
                <a:latin typeface="Arial MT"/>
                <a:cs typeface="Arial MT"/>
              </a:rPr>
              <a:t>change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only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:v3.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Keep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login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name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unchanged.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215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Review,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Save,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Apply.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Wait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until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ready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replicas.</a:t>
            </a:r>
            <a:endParaRPr sz="1050">
              <a:latin typeface="Arial MT"/>
              <a:cs typeface="Arial MT"/>
            </a:endParaRPr>
          </a:p>
          <a:p>
            <a:pPr marL="160655" marR="5080" indent="-147955">
              <a:lnSpc>
                <a:spcPts val="1250"/>
              </a:lnSpc>
              <a:spcBef>
                <a:spcPts val="265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observe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replacement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pods.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Services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ingresses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External</a:t>
            </a:r>
            <a:r>
              <a:rPr sz="1050" spc="-25" dirty="0">
                <a:latin typeface="Arial MT"/>
                <a:cs typeface="Arial MT"/>
              </a:rPr>
              <a:t> IP, 	</a:t>
            </a:r>
            <a:r>
              <a:rPr sz="1050" dirty="0">
                <a:latin typeface="Arial MT"/>
                <a:cs typeface="Arial MT"/>
              </a:rPr>
              <a:t>then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refresh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browser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confirm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three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running.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175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spc="-10" dirty="0">
                <a:latin typeface="Arial MT"/>
                <a:cs typeface="Arial MT"/>
              </a:rPr>
              <a:t>Capture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view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browser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response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space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12.</a:t>
            </a:r>
            <a:endParaRPr sz="1050">
              <a:latin typeface="Arial MT"/>
              <a:cs typeface="Arial MT"/>
            </a:endParaRPr>
          </a:p>
          <a:p>
            <a:pPr marL="12700" marR="154940">
              <a:lnSpc>
                <a:spcPct val="109100"/>
              </a:lnSpc>
              <a:spcBef>
                <a:spcPts val="100"/>
              </a:spcBef>
            </a:pPr>
            <a:r>
              <a:rPr sz="1050" b="1" dirty="0">
                <a:latin typeface="Arial"/>
                <a:cs typeface="Arial"/>
              </a:rPr>
              <a:t>Fallback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portal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method.</a:t>
            </a:r>
            <a:r>
              <a:rPr sz="1050" b="1" spc="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direct</a:t>
            </a:r>
            <a:r>
              <a:rPr sz="1050" spc="-10" dirty="0">
                <a:latin typeface="Arial MT"/>
                <a:cs typeface="Arial MT"/>
              </a:rPr>
              <a:t> editing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available,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Services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ingresses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&gt;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&gt;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a </a:t>
            </a:r>
            <a:r>
              <a:rPr sz="1050" dirty="0">
                <a:latin typeface="Arial MT"/>
                <a:cs typeface="Arial MT"/>
              </a:rPr>
              <a:t>YAML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paste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manifest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v3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image.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12</a:t>
            </a:r>
            <a:r>
              <a:rPr sz="900" b="1" spc="2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</a:t>
            </a:r>
            <a:r>
              <a:rPr sz="900" b="1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portal</a:t>
            </a:r>
            <a:r>
              <a:rPr sz="900" b="1" spc="-4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workload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status,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v3</a:t>
            </a:r>
            <a:r>
              <a:rPr sz="900" b="1" spc="-4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pods,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version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three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response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117" y="6072504"/>
            <a:ext cx="6403975" cy="1511935"/>
          </a:xfrm>
          <a:prstGeom prst="rect">
            <a:avLst/>
          </a:prstGeom>
          <a:solidFill>
            <a:srgbClr val="F9F9F9"/>
          </a:solidFill>
          <a:ln w="12700">
            <a:solidFill>
              <a:srgbClr val="B7B7B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999999"/>
                </a:solidFill>
                <a:latin typeface="Arial"/>
                <a:cs typeface="Arial"/>
              </a:rPr>
              <a:t>Insert</a:t>
            </a:r>
            <a:r>
              <a:rPr sz="1100" i="1" spc="-4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9999"/>
                </a:solidFill>
                <a:latin typeface="Arial"/>
                <a:cs typeface="Arial"/>
              </a:rPr>
              <a:t>screenshot</a:t>
            </a:r>
            <a:r>
              <a:rPr sz="1100" i="1" spc="-4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999999"/>
                </a:solidFill>
                <a:latin typeface="Arial"/>
                <a:cs typeface="Arial"/>
              </a:rPr>
              <a:t>here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417" y="7847965"/>
            <a:ext cx="2080260" cy="64633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Rollback</a:t>
            </a:r>
            <a:r>
              <a:rPr sz="1250" b="1" spc="-2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the</a:t>
            </a:r>
            <a:r>
              <a:rPr sz="1250" b="1" spc="-2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Azure</a:t>
            </a:r>
            <a:r>
              <a:rPr sz="1250" b="1" spc="-2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Version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</a:p>
          <a:p>
            <a:pPr marL="12700">
              <a:spcBef>
                <a:spcPts val="675"/>
              </a:spcBef>
            </a:pPr>
            <a:endParaRPr lang="en-US" sz="850" b="1" spc="-20" dirty="0">
              <a:solidFill>
                <a:srgbClr val="666666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117" y="8469079"/>
            <a:ext cx="6403975" cy="505459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95250" marR="3503295">
              <a:lnSpc>
                <a:spcPct val="97800"/>
              </a:lnSpc>
              <a:spcBef>
                <a:spcPts val="54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rollout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history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3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rollout</a:t>
            </a:r>
            <a:r>
              <a:rPr sz="800" spc="4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undo</a:t>
            </a:r>
            <a:r>
              <a:rPr sz="800" spc="7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3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rollout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status</a:t>
            </a:r>
            <a:r>
              <a:rPr sz="800" spc="5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417" y="8981757"/>
            <a:ext cx="6116320" cy="3505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Test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public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IP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again.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previous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should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running.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how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25" dirty="0">
                <a:latin typeface="Arial MT"/>
                <a:cs typeface="Arial MT"/>
              </a:rPr>
              <a:t> can </a:t>
            </a:r>
            <a:r>
              <a:rPr sz="1050" spc="-10" dirty="0">
                <a:latin typeface="Arial MT"/>
                <a:cs typeface="Arial MT"/>
              </a:rPr>
              <a:t>reduce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risk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 a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update.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691BB8-C63A-1D54-F499-E4A2E65AD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35" y="6045337"/>
            <a:ext cx="6336903" cy="15142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33388"/>
            <a:ext cx="6248400" cy="11963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300" b="1" dirty="0">
                <a:latin typeface="Calibri"/>
                <a:cs typeface="Calibri"/>
              </a:rPr>
              <a:t>Visual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Portal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Rollback</a:t>
            </a:r>
            <a:endParaRPr sz="13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265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Workloads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&gt; </a:t>
            </a:r>
            <a:r>
              <a:rPr sz="1050" spc="-10" dirty="0">
                <a:latin typeface="Arial MT"/>
                <a:cs typeface="Arial MT"/>
              </a:rPr>
              <a:t>Deployments </a:t>
            </a:r>
            <a:r>
              <a:rPr sz="1050" dirty="0">
                <a:latin typeface="Arial MT"/>
                <a:cs typeface="Arial MT"/>
              </a:rPr>
              <a:t>&gt;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hello-</a:t>
            </a:r>
            <a:r>
              <a:rPr sz="1050" spc="-10" dirty="0">
                <a:latin typeface="Arial MT"/>
                <a:cs typeface="Arial MT"/>
              </a:rPr>
              <a:t>cloud-</a:t>
            </a:r>
            <a:r>
              <a:rPr sz="1050" dirty="0">
                <a:latin typeface="Arial MT"/>
                <a:cs typeface="Arial MT"/>
              </a:rPr>
              <a:t>app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YAML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Edit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YAML.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215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spc="-10" dirty="0">
                <a:latin typeface="Arial MT"/>
                <a:cs typeface="Arial MT"/>
              </a:rPr>
              <a:t>Change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:v3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back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:v2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apply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manifest.</a:t>
            </a:r>
            <a:endParaRPr sz="1050">
              <a:latin typeface="Arial MT"/>
              <a:cs typeface="Arial MT"/>
            </a:endParaRPr>
          </a:p>
          <a:p>
            <a:pPr marL="12700" marR="5080" indent="147955">
              <a:lnSpc>
                <a:spcPct val="113199"/>
              </a:lnSpc>
              <a:spcBef>
                <a:spcPts val="50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Wait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previous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version's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become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Ready,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refresh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public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IP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browser. </a:t>
            </a:r>
            <a:r>
              <a:rPr sz="1050" b="1" dirty="0">
                <a:latin typeface="Arial"/>
                <a:cs typeface="Arial"/>
              </a:rPr>
              <a:t>Revision</a:t>
            </a:r>
            <a:r>
              <a:rPr sz="1050" b="1" spc="-4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history</a:t>
            </a:r>
            <a:r>
              <a:rPr sz="1050" b="1" spc="-3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note.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view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expose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revision-</a:t>
            </a:r>
            <a:r>
              <a:rPr sz="1050" dirty="0">
                <a:latin typeface="Arial MT"/>
                <a:cs typeface="Arial MT"/>
              </a:rPr>
              <a:t>based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rollout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undo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every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view.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existing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kubectl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rollout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undo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command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you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revision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history.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417" y="1864359"/>
            <a:ext cx="35591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How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Kubernetes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Helps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with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Updates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9" name="object 9" descr="The Deployment controller manages the transition from v1 to v2 or v3  The Deployment controller manages the transition from v1 to v2 or v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2359786"/>
            <a:ext cx="5298948" cy="14081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17166" y="3989070"/>
            <a:ext cx="333565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 Deployment</a:t>
            </a:r>
            <a:r>
              <a:rPr sz="850" i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controller</a:t>
            </a:r>
            <a:r>
              <a:rPr sz="85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manages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850" i="1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666666"/>
                </a:solidFill>
                <a:latin typeface="Arial"/>
                <a:cs typeface="Arial"/>
              </a:rPr>
              <a:t>transition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850" i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v1</a:t>
            </a:r>
            <a:r>
              <a:rPr sz="850" i="1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850" i="1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v2</a:t>
            </a:r>
            <a:r>
              <a:rPr sz="850" i="1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850" i="1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666666"/>
                </a:solidFill>
                <a:latin typeface="Arial"/>
                <a:cs typeface="Arial"/>
              </a:rPr>
              <a:t>v3</a:t>
            </a:r>
            <a:endParaRPr sz="85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30592" y="4220845"/>
          <a:ext cx="5988050" cy="2393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Without</a:t>
                      </a:r>
                      <a:r>
                        <a:rPr sz="9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Kubernetes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Kubernetes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developer may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stop the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only running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container.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Multiple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replicas can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keep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serving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traffic.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64769" marR="502920">
                        <a:lnSpc>
                          <a:spcPct val="1088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developer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must manage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replacement manually.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Deployment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controller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manages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replacement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pods.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64769" marR="694055">
                        <a:lnSpc>
                          <a:spcPct val="111100"/>
                        </a:lnSpc>
                        <a:spcBef>
                          <a:spcPts val="32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9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failed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update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require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rebuilding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the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environment.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rollout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undo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return to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 previous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revision.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64769" marR="293370">
                        <a:lnSpc>
                          <a:spcPct val="111100"/>
                        </a:lnSpc>
                        <a:spcBef>
                          <a:spcPts val="315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service address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may change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when a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process changes.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The Service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keeps a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stable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endpoint.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Health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checks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often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separate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scripts.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127635">
                        <a:lnSpc>
                          <a:spcPct val="109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Readiness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liveness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probes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part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of the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workload configuration.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73417" y="6803008"/>
            <a:ext cx="5949950" cy="3505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60"/>
              </a:spcBef>
            </a:pP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 </a:t>
            </a:r>
            <a:r>
              <a:rPr sz="1050" spc="-10" dirty="0">
                <a:latin typeface="Arial MT"/>
                <a:cs typeface="Arial MT"/>
              </a:rPr>
              <a:t>remove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testing.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 </a:t>
            </a:r>
            <a:r>
              <a:rPr sz="1050" spc="-10" dirty="0">
                <a:latin typeface="Arial MT"/>
                <a:cs typeface="Arial MT"/>
              </a:rPr>
              <a:t>provides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controlled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way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run, </a:t>
            </a:r>
            <a:r>
              <a:rPr sz="1050" spc="-10" dirty="0">
                <a:latin typeface="Arial MT"/>
                <a:cs typeface="Arial MT"/>
              </a:rPr>
              <a:t>observe,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scale, </a:t>
            </a:r>
            <a:r>
              <a:rPr sz="1050" dirty="0">
                <a:latin typeface="Arial MT"/>
                <a:cs typeface="Arial MT"/>
              </a:rPr>
              <a:t>update,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back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application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tested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available.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417" y="7285990"/>
            <a:ext cx="22612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Troubleshooting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Guide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30592" y="7641590"/>
          <a:ext cx="5988050" cy="1542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Message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symptom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check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docker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recognised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398145">
                        <a:lnSpc>
                          <a:spcPct val="1088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Restart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PowerShell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after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installing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Docker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Desktop.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Confirm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Docker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Desktop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is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running.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Cannot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connect to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Docker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daemon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Open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Docker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Desktop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wait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until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engine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ready.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kubectl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get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nodes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fails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locally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82550">
                        <a:lnSpc>
                          <a:spcPct val="1088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Enable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Kubernetes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Docker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Desktop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use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kubectl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config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use-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context docker-desktop.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30592" y="594105"/>
          <a:ext cx="5902324" cy="2517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Message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symptom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check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ImagePullBackOff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locally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 marR="213995">
                        <a:lnSpc>
                          <a:spcPct val="1088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Confirm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image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name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 tag.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Use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imagePullPolicy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IfNotPresent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local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image.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CrashLoopBackOff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Run</a:t>
                      </a:r>
                      <a:r>
                        <a:rPr sz="9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kubectl</a:t>
                      </a:r>
                      <a:r>
                        <a:rPr sz="9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logs</a:t>
                      </a:r>
                      <a:r>
                        <a:rPr sz="9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deployment/hello-cloud-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app</a:t>
                      </a:r>
                      <a:r>
                        <a:rPr sz="9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check</a:t>
                      </a:r>
                      <a:r>
                        <a:rPr sz="9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Python</a:t>
                      </a:r>
                      <a:r>
                        <a:rPr sz="9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error.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879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ACR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name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error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 marR="267970">
                        <a:lnSpc>
                          <a:spcPct val="1088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Use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only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lowercase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letters and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numbers and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choose a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globally</a:t>
                      </a:r>
                      <a:r>
                        <a:rPr sz="9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unique name.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AKS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quota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capacity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error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Try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region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delete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unused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resources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student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subscription.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External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IP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pending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64769" marR="90170">
                        <a:lnSpc>
                          <a:spcPct val="111100"/>
                        </a:lnSpc>
                        <a:spcBef>
                          <a:spcPts val="32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Wait, then run</a:t>
                      </a:r>
                      <a:r>
                        <a:rPr sz="9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kubectl</a:t>
                      </a:r>
                      <a:r>
                        <a:rPr sz="9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describe</a:t>
                      </a:r>
                      <a:r>
                        <a:rPr sz="9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service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hello-cloud-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app and</a:t>
                      </a:r>
                      <a:r>
                        <a:rPr sz="9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check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service events.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Azure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credits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being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consumed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Stop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cluster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when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finished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delete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resource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group.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73417" y="3379469"/>
            <a:ext cx="2274570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Arial"/>
                <a:cs typeface="Arial"/>
              </a:rPr>
              <a:t>Useful</a:t>
            </a:r>
            <a:r>
              <a:rPr sz="1250" b="1" spc="-5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Diagnostic</a:t>
            </a:r>
            <a:r>
              <a:rPr sz="1250" b="1" spc="-5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Commands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117" y="3836670"/>
            <a:ext cx="6403975" cy="864235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5250">
              <a:lnSpc>
                <a:spcPts val="944"/>
              </a:lnSpc>
              <a:spcBef>
                <a:spcPts val="52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get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pods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25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describe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pod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&lt;POD_NAME&gt;</a:t>
            </a:r>
            <a:endParaRPr sz="800">
              <a:latin typeface="Consolas"/>
              <a:cs typeface="Consolas"/>
            </a:endParaRPr>
          </a:p>
          <a:p>
            <a:pPr marL="95250" marR="3895725">
              <a:lnSpc>
                <a:spcPct val="97700"/>
              </a:lnSpc>
              <a:spcBef>
                <a:spcPts val="5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</a:t>
            </a:r>
            <a:r>
              <a:rPr sz="800" spc="4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logs</a:t>
            </a:r>
            <a:r>
              <a:rPr sz="800" spc="5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deployment/hello-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kubectl get events</a:t>
            </a:r>
            <a:r>
              <a:rPr sz="800" spc="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sort-by=.lastTimestamp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ps</a:t>
            </a:r>
            <a:endParaRPr sz="800">
              <a:latin typeface="Consolas"/>
              <a:cs typeface="Consolas"/>
            </a:endParaRPr>
          </a:p>
          <a:p>
            <a:pPr marL="95250">
              <a:lnSpc>
                <a:spcPts val="950"/>
              </a:lnSpc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docker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logs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hello-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cloud-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app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17" y="4910073"/>
            <a:ext cx="54476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13</a:t>
            </a:r>
            <a:r>
              <a:rPr sz="900" b="1" spc="2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Record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one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portal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diagnostic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view</a:t>
            </a:r>
            <a:r>
              <a:rPr sz="900" b="1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90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troubleshooting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command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900" b="1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its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result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6117" y="5116448"/>
            <a:ext cx="6403975" cy="1238885"/>
          </a:xfrm>
          <a:prstGeom prst="rect">
            <a:avLst/>
          </a:prstGeom>
          <a:solidFill>
            <a:srgbClr val="F9F9F9"/>
          </a:solidFill>
          <a:ln w="12700">
            <a:solidFill>
              <a:srgbClr val="B7B7B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999999"/>
                </a:solidFill>
                <a:latin typeface="Arial"/>
                <a:cs typeface="Arial"/>
              </a:rPr>
              <a:t>Insert</a:t>
            </a:r>
            <a:r>
              <a:rPr sz="1100" i="1" spc="-4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9999"/>
                </a:solidFill>
                <a:latin typeface="Arial"/>
                <a:cs typeface="Arial"/>
              </a:rPr>
              <a:t>screenshot</a:t>
            </a:r>
            <a:r>
              <a:rPr sz="1100" i="1" spc="-4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999999"/>
                </a:solidFill>
                <a:latin typeface="Arial"/>
                <a:cs typeface="Arial"/>
              </a:rPr>
              <a:t>here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417" y="6522036"/>
            <a:ext cx="6367145" cy="242951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latin typeface="Arial"/>
                <a:cs typeface="Arial"/>
              </a:rPr>
              <a:t>Step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14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Clean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Up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Azure </a:t>
            </a:r>
            <a:r>
              <a:rPr sz="1600" b="1" spc="-10" dirty="0">
                <a:latin typeface="Arial"/>
                <a:cs typeface="Arial"/>
              </a:rPr>
              <a:t>Resources</a:t>
            </a:r>
            <a:endParaRPr sz="1600">
              <a:latin typeface="Arial"/>
              <a:cs typeface="Arial"/>
            </a:endParaRPr>
          </a:p>
          <a:p>
            <a:pPr marL="12700" marR="66040">
              <a:lnSpc>
                <a:spcPct val="103200"/>
              </a:lnSpc>
              <a:spcBef>
                <a:spcPts val="690"/>
              </a:spcBef>
            </a:pPr>
            <a:r>
              <a:rPr sz="1050" dirty="0">
                <a:latin typeface="Arial MT"/>
                <a:cs typeface="Arial MT"/>
              </a:rPr>
              <a:t>Delete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through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10" dirty="0">
                <a:latin typeface="Arial MT"/>
                <a:cs typeface="Arial MT"/>
              </a:rPr>
              <a:t> PowerShell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exercise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finished.</a:t>
            </a:r>
            <a:r>
              <a:rPr sz="1050" spc="-20" dirty="0">
                <a:latin typeface="Arial MT"/>
                <a:cs typeface="Arial MT"/>
              </a:rPr>
              <a:t> This </a:t>
            </a:r>
            <a:r>
              <a:rPr sz="1050" spc="-10" dirty="0">
                <a:latin typeface="Arial MT"/>
                <a:cs typeface="Arial MT"/>
              </a:rPr>
              <a:t>removes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ACR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resources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practical.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delete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anything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until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have </a:t>
            </a:r>
            <a:r>
              <a:rPr sz="1050" dirty="0">
                <a:latin typeface="Arial MT"/>
                <a:cs typeface="Arial MT"/>
              </a:rPr>
              <a:t>saved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their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screenshots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results.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300" b="1" dirty="0">
                <a:latin typeface="Calibri"/>
                <a:cs typeface="Calibri"/>
              </a:rPr>
              <a:t>Visual</a:t>
            </a:r>
            <a:r>
              <a:rPr sz="1300" b="1" spc="-4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Azure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Portal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Cleanup</a:t>
            </a:r>
            <a:endParaRPr sz="1300">
              <a:latin typeface="Calibri"/>
              <a:cs typeface="Calibri"/>
            </a:endParaRPr>
          </a:p>
          <a:p>
            <a:pPr marL="160655" indent="-147955">
              <a:lnSpc>
                <a:spcPct val="100000"/>
              </a:lnSpc>
              <a:spcBef>
                <a:spcPts val="265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search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bar,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Resource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10" dirty="0">
                <a:latin typeface="Arial MT"/>
                <a:cs typeface="Arial MT"/>
              </a:rPr>
              <a:t> rg-hello-cloud.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215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Delete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group.</a:t>
            </a:r>
            <a:endParaRPr sz="10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190"/>
              </a:spcBef>
              <a:buFont typeface="Arial"/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Enter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rg-hello-</a:t>
            </a:r>
            <a:r>
              <a:rPr sz="1050" dirty="0">
                <a:latin typeface="Arial MT"/>
                <a:cs typeface="Arial MT"/>
              </a:rPr>
              <a:t>cloud,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confirm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deletion,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Delete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again.</a:t>
            </a:r>
            <a:endParaRPr sz="1050">
              <a:latin typeface="Arial MT"/>
              <a:cs typeface="Arial MT"/>
            </a:endParaRPr>
          </a:p>
          <a:p>
            <a:pPr marL="160655" marR="5080" indent="-147955">
              <a:lnSpc>
                <a:spcPct val="101299"/>
              </a:lnSpc>
              <a:spcBef>
                <a:spcPts val="200"/>
              </a:spcBef>
              <a:buFont typeface="Arial"/>
              <a:buAutoNum type="arabicPeriod"/>
              <a:tabLst>
                <a:tab pos="269875" algn="l"/>
              </a:tabLst>
            </a:pPr>
            <a:r>
              <a:rPr sz="1050" dirty="0">
                <a:latin typeface="Arial MT"/>
                <a:cs typeface="Arial MT"/>
              </a:rPr>
              <a:t>Wait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until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disappears.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10" dirty="0">
                <a:latin typeface="Arial MT"/>
                <a:cs typeface="Arial MT"/>
              </a:rPr>
              <a:t> required, </a:t>
            </a:r>
            <a:r>
              <a:rPr sz="1050" dirty="0">
                <a:latin typeface="Arial MT"/>
                <a:cs typeface="Arial MT"/>
              </a:rPr>
              <a:t>open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Cost</a:t>
            </a:r>
            <a:r>
              <a:rPr sz="1050" spc="-10" dirty="0">
                <a:latin typeface="Arial MT"/>
                <a:cs typeface="Arial MT"/>
              </a:rPr>
              <a:t> Management </a:t>
            </a:r>
            <a:r>
              <a:rPr sz="1050" dirty="0">
                <a:latin typeface="Arial MT"/>
                <a:cs typeface="Arial MT"/>
              </a:rPr>
              <a:t>+</a:t>
            </a:r>
            <a:r>
              <a:rPr sz="1050" spc="-10" dirty="0">
                <a:latin typeface="Arial MT"/>
                <a:cs typeface="Arial MT"/>
              </a:rPr>
              <a:t> Billing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subscription 	</a:t>
            </a:r>
            <a:r>
              <a:rPr sz="1050" dirty="0">
                <a:latin typeface="Arial MT"/>
                <a:cs typeface="Arial MT"/>
              </a:rPr>
              <a:t>cost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view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check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recent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usage.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50" b="1" dirty="0">
                <a:latin typeface="Arial"/>
                <a:cs typeface="Arial"/>
              </a:rPr>
              <a:t>Important.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Do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delete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until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screenshots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results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have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been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saved.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482B1C-951B-89BD-CD29-F09C2FFC1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94" y="5122755"/>
            <a:ext cx="6619360" cy="13881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417" y="575056"/>
            <a:ext cx="137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666666"/>
                </a:solidFill>
                <a:latin typeface="Arial"/>
                <a:cs typeface="Arial"/>
              </a:rPr>
              <a:t>Optional</a:t>
            </a:r>
            <a:r>
              <a:rPr sz="85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666666"/>
                </a:solidFill>
                <a:latin typeface="Arial"/>
                <a:cs typeface="Arial"/>
              </a:rPr>
              <a:t>PowerShell</a:t>
            </a:r>
            <a:r>
              <a:rPr sz="850" b="1" spc="-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Arial"/>
                <a:cs typeface="Arial"/>
              </a:rPr>
              <a:t>route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17" y="756030"/>
            <a:ext cx="6403975" cy="387350"/>
          </a:xfrm>
          <a:prstGeom prst="rect">
            <a:avLst/>
          </a:prstGeom>
          <a:solidFill>
            <a:srgbClr val="F3F5F7"/>
          </a:solidFill>
          <a:ln w="6350">
            <a:solidFill>
              <a:srgbClr val="D9D9D9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95250" marR="3281045">
              <a:lnSpc>
                <a:spcPts val="930"/>
              </a:lnSpc>
              <a:spcBef>
                <a:spcPts val="580"/>
              </a:spcBef>
            </a:pP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2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group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delete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$RESOURCE_GROUP</a:t>
            </a:r>
            <a:r>
              <a:rPr sz="800" spc="1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-yes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--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no-</a:t>
            </a:r>
            <a:r>
              <a:rPr sz="800" spc="-20" dirty="0">
                <a:solidFill>
                  <a:srgbClr val="1F2023"/>
                </a:solidFill>
                <a:latin typeface="Consolas"/>
                <a:cs typeface="Consolas"/>
              </a:rPr>
              <a:t>wait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az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group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show</a:t>
            </a:r>
            <a:r>
              <a:rPr sz="800" spc="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spc="-15" dirty="0">
                <a:solidFill>
                  <a:srgbClr val="1F2023"/>
                </a:solidFill>
                <a:latin typeface="Consolas"/>
                <a:cs typeface="Consolas"/>
              </a:rPr>
              <a:t>-</a:t>
            </a:r>
            <a:r>
              <a:rPr sz="800" dirty="0">
                <a:solidFill>
                  <a:srgbClr val="1F2023"/>
                </a:solidFill>
                <a:latin typeface="Consolas"/>
                <a:cs typeface="Consolas"/>
              </a:rPr>
              <a:t>name</a:t>
            </a:r>
            <a:r>
              <a:rPr sz="800" spc="-5" dirty="0">
                <a:solidFill>
                  <a:srgbClr val="1F2023"/>
                </a:solidFill>
                <a:latin typeface="Consolas"/>
                <a:cs typeface="Consolas"/>
              </a:rPr>
              <a:t> </a:t>
            </a:r>
            <a:r>
              <a:rPr sz="800" spc="-10" dirty="0">
                <a:solidFill>
                  <a:srgbClr val="1F2023"/>
                </a:solidFill>
                <a:latin typeface="Consolas"/>
                <a:cs typeface="Consolas"/>
              </a:rPr>
              <a:t>$RESOURCE_GROUP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417" y="1314831"/>
            <a:ext cx="5966460" cy="572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5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final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command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report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resource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found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deletion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complete.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is </a:t>
            </a:r>
            <a:r>
              <a:rPr sz="1050" dirty="0">
                <a:latin typeface="Arial MT"/>
                <a:cs typeface="Arial MT"/>
              </a:rPr>
              <a:t>expected.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You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also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verify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usage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under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Cost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Management.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Screenshot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space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14</a:t>
            </a:r>
            <a:r>
              <a:rPr sz="900" b="1" spc="2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Show</a:t>
            </a:r>
            <a:r>
              <a:rPr sz="900" b="1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portal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deletion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confirmation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deleted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resource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group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117" y="1931035"/>
            <a:ext cx="6403975" cy="338554"/>
          </a:xfrm>
          <a:prstGeom prst="rect">
            <a:avLst/>
          </a:prstGeom>
          <a:solidFill>
            <a:srgbClr val="F9F9F9"/>
          </a:solidFill>
          <a:ln w="12700">
            <a:solidFill>
              <a:srgbClr val="B7B7B7"/>
            </a:solidFill>
          </a:ln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algn="ctr"/>
            <a:r>
              <a:rPr sz="1100" i="1" dirty="0">
                <a:solidFill>
                  <a:srgbClr val="999999"/>
                </a:solidFill>
                <a:latin typeface="Arial"/>
                <a:cs typeface="Arial"/>
              </a:rPr>
              <a:t>Insert</a:t>
            </a:r>
            <a:r>
              <a:rPr sz="1100" i="1" spc="-4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9999"/>
                </a:solidFill>
                <a:latin typeface="Arial"/>
                <a:cs typeface="Arial"/>
              </a:rPr>
              <a:t>screenshot</a:t>
            </a:r>
            <a:r>
              <a:rPr sz="1100" i="1" spc="-4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999999"/>
                </a:solidFill>
                <a:latin typeface="Arial"/>
                <a:cs typeface="Arial"/>
              </a:rPr>
              <a:t>here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417" y="3430270"/>
            <a:ext cx="29514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Student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Submission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Checklist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6117" y="6205863"/>
            <a:ext cx="6353175" cy="0"/>
          </a:xfrm>
          <a:custGeom>
            <a:avLst/>
            <a:gdLst/>
            <a:ahLst/>
            <a:cxnLst/>
            <a:rect l="l" t="t" r="r" b="b"/>
            <a:pathLst>
              <a:path w="6353175">
                <a:moveTo>
                  <a:pt x="0" y="0"/>
                </a:moveTo>
                <a:lnTo>
                  <a:pt x="6353086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6117" y="6348738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6117" y="6914142"/>
            <a:ext cx="6353175" cy="0"/>
          </a:xfrm>
          <a:custGeom>
            <a:avLst/>
            <a:gdLst/>
            <a:ahLst/>
            <a:cxnLst/>
            <a:rect l="l" t="t" r="r" b="b"/>
            <a:pathLst>
              <a:path w="6353175">
                <a:moveTo>
                  <a:pt x="0" y="0"/>
                </a:moveTo>
                <a:lnTo>
                  <a:pt x="6353086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7" y="7053842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6117" y="7619373"/>
            <a:ext cx="6353175" cy="0"/>
          </a:xfrm>
          <a:custGeom>
            <a:avLst/>
            <a:gdLst/>
            <a:ahLst/>
            <a:cxnLst/>
            <a:rect l="l" t="t" r="r" b="b"/>
            <a:pathLst>
              <a:path w="6353175">
                <a:moveTo>
                  <a:pt x="0" y="0"/>
                </a:moveTo>
                <a:lnTo>
                  <a:pt x="6353086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6117" y="7759073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6117" y="8324223"/>
            <a:ext cx="6353175" cy="0"/>
          </a:xfrm>
          <a:custGeom>
            <a:avLst/>
            <a:gdLst/>
            <a:ahLst/>
            <a:cxnLst/>
            <a:rect l="l" t="t" r="r" b="b"/>
            <a:pathLst>
              <a:path w="6353175">
                <a:moveTo>
                  <a:pt x="0" y="0"/>
                </a:moveTo>
                <a:lnTo>
                  <a:pt x="6353086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6117" y="8467098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3417" y="3761740"/>
            <a:ext cx="6232525" cy="51415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[ ] 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 the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Flask</a:t>
            </a:r>
            <a:r>
              <a:rPr sz="1050" spc="-10" dirty="0">
                <a:latin typeface="Arial MT"/>
                <a:cs typeface="Arial MT"/>
              </a:rPr>
              <a:t> application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running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without </a:t>
            </a:r>
            <a:r>
              <a:rPr sz="1050" spc="-10" dirty="0">
                <a:latin typeface="Arial MT"/>
                <a:cs typeface="Arial MT"/>
              </a:rPr>
              <a:t>Docker.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5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[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]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running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container,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browser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response.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5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[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] 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 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NodePort </a:t>
            </a:r>
            <a:r>
              <a:rPr sz="1050" spc="-10" dirty="0">
                <a:latin typeface="Arial MT"/>
                <a:cs typeface="Arial MT"/>
              </a:rPr>
              <a:t>service.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5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[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]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showing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v1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v2.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[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]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Overview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Repositories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tag.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[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]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AKS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pages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Ready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External</a:t>
            </a:r>
            <a:r>
              <a:rPr sz="1050" spc="-25" dirty="0">
                <a:latin typeface="Arial MT"/>
                <a:cs typeface="Arial MT"/>
              </a:rPr>
              <a:t> IP.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[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]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 </a:t>
            </a:r>
            <a:r>
              <a:rPr sz="1050" dirty="0">
                <a:latin typeface="Arial MT"/>
                <a:cs typeface="Arial MT"/>
              </a:rPr>
              <a:t>showing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v2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v3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through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kubectl.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[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]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screenshot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successful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portal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rollback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view,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rollout</a:t>
            </a:r>
            <a:r>
              <a:rPr sz="1050" spc="-10" dirty="0">
                <a:latin typeface="Arial MT"/>
                <a:cs typeface="Arial MT"/>
              </a:rPr>
              <a:t> command.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</a:tabLst>
            </a:pPr>
            <a:r>
              <a:rPr sz="1050" dirty="0">
                <a:latin typeface="Arial MT"/>
                <a:cs typeface="Arial MT"/>
              </a:rPr>
              <a:t>[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]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short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explanation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how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replicas,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Services,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probes,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rolling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updates,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rollback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help.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250" b="1" dirty="0">
                <a:latin typeface="Arial"/>
                <a:cs typeface="Arial"/>
              </a:rPr>
              <a:t>Reflection</a:t>
            </a:r>
            <a:r>
              <a:rPr sz="1250" b="1" spc="-4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Questions</a:t>
            </a:r>
            <a:endParaRPr sz="1250">
              <a:latin typeface="Arial"/>
              <a:cs typeface="Arial"/>
            </a:endParaRPr>
          </a:p>
          <a:p>
            <a:pPr marL="160655" indent="-14795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Why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test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application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without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first?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0" dirty="0">
                <a:solidFill>
                  <a:srgbClr val="777777"/>
                </a:solidFill>
                <a:latin typeface="Arial MT"/>
                <a:cs typeface="Arial MT"/>
              </a:rPr>
              <a:t>Answer: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90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buAutoNum type="arabicPeriod" startAt="2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difference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Docker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 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running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container?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0" dirty="0">
                <a:solidFill>
                  <a:srgbClr val="777777"/>
                </a:solidFill>
                <a:latin typeface="Arial MT"/>
                <a:cs typeface="Arial MT"/>
              </a:rPr>
              <a:t>Answer: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90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buAutoNum type="arabicPeriod" startAt="3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Why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Kubernetes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Deployment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replicas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equal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two?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0" dirty="0">
                <a:solidFill>
                  <a:srgbClr val="777777"/>
                </a:solidFill>
                <a:latin typeface="Arial MT"/>
                <a:cs typeface="Arial MT"/>
              </a:rPr>
              <a:t>Answer: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90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buAutoNum type="arabicPeriod" startAt="4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Service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provide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provide?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0" dirty="0">
                <a:solidFill>
                  <a:srgbClr val="777777"/>
                </a:solidFill>
                <a:latin typeface="Arial MT"/>
                <a:cs typeface="Arial MT"/>
              </a:rPr>
              <a:t>Answer: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90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buAutoNum type="arabicPeriod" startAt="5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Why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image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tag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version?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0" dirty="0">
                <a:solidFill>
                  <a:srgbClr val="777777"/>
                </a:solidFill>
                <a:latin typeface="Arial MT"/>
                <a:cs typeface="Arial MT"/>
              </a:rPr>
              <a:t>Answer: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6117" y="9029391"/>
            <a:ext cx="6353175" cy="0"/>
          </a:xfrm>
          <a:custGeom>
            <a:avLst/>
            <a:gdLst/>
            <a:ahLst/>
            <a:cxnLst/>
            <a:rect l="l" t="t" r="r" b="b"/>
            <a:pathLst>
              <a:path w="6353175">
                <a:moveTo>
                  <a:pt x="0" y="0"/>
                </a:moveTo>
                <a:lnTo>
                  <a:pt x="6353086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6117" y="9172266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174372-BBD9-570A-C14E-69AA1BE77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96" y="1935820"/>
            <a:ext cx="6406194" cy="12642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6117" y="1067189"/>
            <a:ext cx="6353175" cy="0"/>
          </a:xfrm>
          <a:custGeom>
            <a:avLst/>
            <a:gdLst/>
            <a:ahLst/>
            <a:cxnLst/>
            <a:rect l="l" t="t" r="r" b="b"/>
            <a:pathLst>
              <a:path w="6353175">
                <a:moveTo>
                  <a:pt x="0" y="0"/>
                </a:moveTo>
                <a:lnTo>
                  <a:pt x="6353086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6117" y="1210064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417" y="517800"/>
            <a:ext cx="3727450" cy="11283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60655" indent="-147955">
              <a:lnSpc>
                <a:spcPct val="100000"/>
              </a:lnSpc>
              <a:spcBef>
                <a:spcPts val="525"/>
              </a:spcBef>
              <a:buAutoNum type="arabicPeriod" startAt="6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happens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if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version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fails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health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check?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0" dirty="0">
                <a:solidFill>
                  <a:srgbClr val="777777"/>
                </a:solidFill>
                <a:latin typeface="Arial MT"/>
                <a:cs typeface="Arial MT"/>
              </a:rPr>
              <a:t>Answer: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90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buAutoNum type="arabicPeriod" startAt="7"/>
              <a:tabLst>
                <a:tab pos="160655" algn="l"/>
              </a:tabLst>
            </a:pPr>
            <a:r>
              <a:rPr sz="1050" dirty="0">
                <a:latin typeface="Arial MT"/>
                <a:cs typeface="Arial MT"/>
              </a:rPr>
              <a:t>Why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must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delete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Azure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resource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lab?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0" dirty="0">
                <a:solidFill>
                  <a:srgbClr val="777777"/>
                </a:solidFill>
                <a:latin typeface="Arial MT"/>
                <a:cs typeface="Arial MT"/>
              </a:rPr>
              <a:t>Answer: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6117" y="1772293"/>
            <a:ext cx="6353175" cy="0"/>
          </a:xfrm>
          <a:custGeom>
            <a:avLst/>
            <a:gdLst/>
            <a:ahLst/>
            <a:cxnLst/>
            <a:rect l="l" t="t" r="r" b="b"/>
            <a:pathLst>
              <a:path w="6353175">
                <a:moveTo>
                  <a:pt x="0" y="0"/>
                </a:moveTo>
                <a:lnTo>
                  <a:pt x="6353086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6117" y="1915168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7256">
            <a:solidFill>
              <a:srgbClr val="7676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3417" y="2054859"/>
            <a:ext cx="18669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Official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References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417" y="2386711"/>
            <a:ext cx="3482975" cy="16198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Symbol"/>
              <a:buChar char=""/>
              <a:tabLst>
                <a:tab pos="240665" algn="l"/>
              </a:tabLst>
            </a:pP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2"/>
              </a:rPr>
              <a:t>Docker</a:t>
            </a:r>
            <a:r>
              <a:rPr sz="1050" u="sng" spc="-5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2"/>
              </a:rPr>
              <a:t>Desktop</a:t>
            </a:r>
            <a:r>
              <a:rPr sz="1050" u="sng" spc="-5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050" u="sng" spc="-1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2"/>
              </a:rPr>
              <a:t>Kubernetes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5"/>
              </a:spcBef>
              <a:buClr>
                <a:srgbClr val="000000"/>
              </a:buClr>
              <a:buFont typeface="Symbol"/>
              <a:buChar char=""/>
              <a:tabLst>
                <a:tab pos="240665" algn="l"/>
              </a:tabLst>
            </a:pP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Azure</a:t>
            </a:r>
            <a:r>
              <a:rPr sz="1050" u="sng" spc="-4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CLI</a:t>
            </a:r>
            <a:r>
              <a:rPr sz="1050" u="sng" spc="-1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for</a:t>
            </a:r>
            <a:r>
              <a:rPr sz="1050" u="sng" spc="-2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050" u="sng" spc="-1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3"/>
              </a:rPr>
              <a:t>Windows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5"/>
              </a:spcBef>
              <a:buClr>
                <a:srgbClr val="000000"/>
              </a:buClr>
              <a:buFont typeface="Symbol"/>
              <a:buChar char=""/>
              <a:tabLst>
                <a:tab pos="240665" algn="l"/>
              </a:tabLst>
            </a:pP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Azure</a:t>
            </a:r>
            <a:r>
              <a:rPr sz="1050" u="sng" spc="-6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Container</a:t>
            </a:r>
            <a:r>
              <a:rPr sz="1050" u="sng" spc="-5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Registry</a:t>
            </a:r>
            <a:r>
              <a:rPr sz="1050" u="sng" spc="-5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Docker</a:t>
            </a:r>
            <a:r>
              <a:rPr sz="1050" u="sng" spc="-5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050" u="sng" spc="-2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4"/>
              </a:rPr>
              <a:t>guide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5"/>
              </a:spcBef>
              <a:buClr>
                <a:srgbClr val="000000"/>
              </a:buClr>
              <a:buFont typeface="Symbol"/>
              <a:buChar char=""/>
              <a:tabLst>
                <a:tab pos="240665" algn="l"/>
              </a:tabLst>
            </a:pP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Create</a:t>
            </a:r>
            <a:r>
              <a:rPr sz="1050" u="sng" spc="-4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an</a:t>
            </a:r>
            <a:r>
              <a:rPr sz="1050" u="sng" spc="-3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AKS</a:t>
            </a:r>
            <a:r>
              <a:rPr sz="1050" u="sng" spc="-2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cluster</a:t>
            </a:r>
            <a:r>
              <a:rPr sz="1050" u="sng" spc="-3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with</a:t>
            </a:r>
            <a:r>
              <a:rPr sz="1050" u="sng" spc="-3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Azure</a:t>
            </a:r>
            <a:r>
              <a:rPr sz="1050" u="sng" spc="-3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050" u="sng" spc="-2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5"/>
              </a:rPr>
              <a:t>CLI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5"/>
              </a:spcBef>
              <a:buClr>
                <a:srgbClr val="000000"/>
              </a:buClr>
              <a:buFont typeface="Symbol"/>
              <a:buChar char=""/>
              <a:tabLst>
                <a:tab pos="240665" algn="l"/>
              </a:tabLst>
            </a:pP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6"/>
              </a:rPr>
              <a:t>Azure</a:t>
            </a:r>
            <a:r>
              <a:rPr sz="1050" u="sng" spc="-4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6"/>
              </a:rPr>
              <a:t>for</a:t>
            </a:r>
            <a:r>
              <a:rPr sz="1050" u="sng" spc="-2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050" u="sng" spc="-1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6"/>
              </a:rPr>
              <a:t>Students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Clr>
                <a:srgbClr val="000000"/>
              </a:buClr>
              <a:buFont typeface="Symbol"/>
              <a:buChar char=""/>
              <a:tabLst>
                <a:tab pos="240665" algn="l"/>
              </a:tabLst>
            </a:pP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7"/>
              </a:rPr>
              <a:t>Track</a:t>
            </a:r>
            <a:r>
              <a:rPr sz="1050" u="sng" spc="-3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7"/>
              </a:rPr>
              <a:t>Azure</a:t>
            </a:r>
            <a:r>
              <a:rPr sz="1050" u="sng" spc="-4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7"/>
              </a:rPr>
              <a:t>for</a:t>
            </a:r>
            <a:r>
              <a:rPr sz="1050" u="sng" spc="-3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050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7"/>
              </a:rPr>
              <a:t>Students</a:t>
            </a:r>
            <a:r>
              <a:rPr sz="1050" u="sng" spc="-2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050" u="sng" spc="-2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 MT"/>
                <a:cs typeface="Arial MT"/>
                <a:hlinkClick r:id="rId7"/>
              </a:rPr>
              <a:t>costs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Clr>
                <a:srgbClr val="000000"/>
              </a:buClr>
              <a:buFont typeface="Symbol"/>
              <a:buChar char=""/>
              <a:tabLst>
                <a:tab pos="240665" algn="l"/>
              </a:tabLst>
            </a:pP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Create</a:t>
            </a:r>
            <a:r>
              <a:rPr sz="1050" u="sng" spc="-4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an</a:t>
            </a:r>
            <a:r>
              <a:rPr sz="1050" u="sng" spc="-40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Azure</a:t>
            </a:r>
            <a:r>
              <a:rPr sz="1050" u="sng" spc="-4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Container</a:t>
            </a:r>
            <a:r>
              <a:rPr sz="1050" u="sng" spc="-3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Registry</a:t>
            </a:r>
            <a:r>
              <a:rPr sz="1050" u="sng" spc="-30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in</a:t>
            </a:r>
            <a:r>
              <a:rPr sz="1050" u="sng" spc="-4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the</a:t>
            </a:r>
            <a:r>
              <a:rPr sz="1050" u="sng" spc="-40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Azure</a:t>
            </a:r>
            <a:r>
              <a:rPr sz="1050" u="sng" spc="-4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050" u="sng" spc="-10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8"/>
              </a:rPr>
              <a:t>portal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90"/>
              </a:spcBef>
              <a:buClr>
                <a:srgbClr val="000000"/>
              </a:buClr>
              <a:buFont typeface="Symbol"/>
              <a:buChar char=""/>
              <a:tabLst>
                <a:tab pos="240665" algn="l"/>
              </a:tabLst>
            </a:pP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Create</a:t>
            </a:r>
            <a:r>
              <a:rPr sz="1050" u="sng" spc="-3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an</a:t>
            </a:r>
            <a:r>
              <a:rPr sz="1050" u="sng" spc="-3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AKS</a:t>
            </a:r>
            <a:r>
              <a:rPr sz="1050" u="sng" spc="-30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cluster</a:t>
            </a:r>
            <a:r>
              <a:rPr sz="1050" u="sng" spc="-2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using</a:t>
            </a:r>
            <a:r>
              <a:rPr sz="1050" u="sng" spc="-3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the</a:t>
            </a:r>
            <a:r>
              <a:rPr sz="1050" u="sng" spc="-3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Azure</a:t>
            </a:r>
            <a:r>
              <a:rPr sz="1050" u="sng" spc="-3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050" u="sng" spc="-10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9"/>
              </a:rPr>
              <a:t>portal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Symbol"/>
              <a:buChar char=""/>
              <a:tabLst>
                <a:tab pos="240665" algn="l"/>
              </a:tabLst>
            </a:pP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Manage</a:t>
            </a:r>
            <a:r>
              <a:rPr sz="1050" u="sng" spc="-40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050" u="sng" spc="-10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Kubernetes</a:t>
            </a:r>
            <a:r>
              <a:rPr sz="1050" u="sng" spc="-2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resources</a:t>
            </a:r>
            <a:r>
              <a:rPr sz="1050" u="sng" spc="-2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in</a:t>
            </a:r>
            <a:r>
              <a:rPr sz="1050" u="sng" spc="-3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the</a:t>
            </a:r>
            <a:r>
              <a:rPr sz="1050" u="sng" spc="-3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050" u="sng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Azure</a:t>
            </a:r>
            <a:r>
              <a:rPr sz="1050" u="sng" spc="-35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050" u="sng" spc="-10" dirty="0">
                <a:solidFill>
                  <a:srgbClr val="2D5D89"/>
                </a:solidFill>
                <a:uFill>
                  <a:solidFill>
                    <a:srgbClr val="2D5D89"/>
                  </a:solidFill>
                </a:uFill>
                <a:latin typeface="Arial MT"/>
                <a:cs typeface="Arial MT"/>
                <a:hlinkClick r:id="rId10"/>
              </a:rPr>
              <a:t>portal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Cloud</a:t>
            </a:r>
            <a:r>
              <a:rPr spc="185" dirty="0"/>
              <a:t> </a:t>
            </a:r>
            <a:r>
              <a:rPr spc="-10" dirty="0"/>
              <a:t>Student</a:t>
            </a:r>
            <a:r>
              <a:rPr spc="-25" dirty="0"/>
              <a:t> </a:t>
            </a:r>
            <a:r>
              <a:rPr spc="-10" dirty="0"/>
              <a:t>Practical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Code to Cloud Student Practical</dc:title>
  <dc:subject>Flask Docker Kubernetes and Azure practical for Windows 11 students</dc:subject>
  <dc:creator>Student Practical</dc:creator>
  <cp:revision>28</cp:revision>
  <dcterms:created xsi:type="dcterms:W3CDTF">2026-09-24T08:50:19Z</dcterms:created>
  <dcterms:modified xsi:type="dcterms:W3CDTF">2026-09-24T09:38:17Z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2026-09-22T00:00:00Z</vt:filetime>
  </property>
  <property fmtid="{D5CDD505-2E9C-101B-9397-08002B2CF9AE}" pid="4" name="Creator">
    <vt:lpwstr>Microsoft Word</vt:lpwstr>
  </property>
  <property fmtid="{D5CDD505-2E9C-101B-9397-08002B2CF9AE}" pid="5" name="LastSaved">
    <vt:filetime>2026-09-24T00:00:00Z</vt:filetime>
  </property>
</Properties>
</file>